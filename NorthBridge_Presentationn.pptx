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7" r:id="rId11"/>
    <p:sldId id="268" r:id="rId12"/>
    <p:sldId id="269" r:id="rId13"/>
    <p:sldId id="270" r:id="rId14"/>
    <p:sldId id="283" r:id="rId15"/>
    <p:sldId id="288" r:id="rId16"/>
    <p:sldId id="271" r:id="rId17"/>
    <p:sldId id="284" r:id="rId18"/>
    <p:sldId id="289" r:id="rId19"/>
    <p:sldId id="272" r:id="rId20"/>
    <p:sldId id="285" r:id="rId21"/>
    <p:sldId id="290" r:id="rId22"/>
    <p:sldId id="273" r:id="rId23"/>
    <p:sldId id="286" r:id="rId24"/>
    <p:sldId id="274" r:id="rId25"/>
    <p:sldId id="280" r:id="rId26"/>
    <p:sldId id="275" r:id="rId27"/>
    <p:sldId id="287" r:id="rId28"/>
    <p:sldId id="291" r:id="rId29"/>
    <p:sldId id="276" r:id="rId30"/>
    <p:sldId id="277" r:id="rId31"/>
    <p:sldId id="278" r:id="rId32"/>
    <p:sldId id="282" r:id="rId33"/>
    <p:sldId id="281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41F45"/>
          </a:solidFill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41F45"/>
          </a:solidFill>
        </p:spPr>
      </p:sp>
      <p:sp>
        <p:nvSpPr>
          <p:cNvPr id="6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AMDARI DATA ANALYTICS INTERNSHIP PROGRAM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37160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C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192024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Customer Service Ticket &amp; SLA</a:t>
            </a:r>
            <a:endParaRPr lang="en-US" sz="42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Optimisation System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data-driven approach to visibility, SLA performance, and proactive service management.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4892040"/>
            <a:ext cx="3840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0749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5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53949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 |  Data Engineering  |  Data Science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14" name="Rectangle: Rounded Corners 13"/>
          <p:cNvSpPr/>
          <p:nvPr/>
        </p:nvSpPr>
        <p:spPr>
          <a:xfrm>
            <a:off x="9338576" y="254118"/>
            <a:ext cx="1988288" cy="1574682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43684"/>
            <a:ext cx="438912" cy="438912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6" name="Text 4"/>
          <p:cNvSpPr/>
          <p:nvPr/>
        </p:nvSpPr>
        <p:spPr>
          <a:xfrm>
            <a:off x="868680" y="20436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Understanding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80560" y="17830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043684"/>
            <a:ext cx="438912" cy="438912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10" name="Text 8"/>
          <p:cNvSpPr/>
          <p:nvPr/>
        </p:nvSpPr>
        <p:spPr>
          <a:xfrm>
            <a:off x="4709160" y="20436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178308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Challenges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321040" y="17830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49640" y="2043684"/>
            <a:ext cx="438912" cy="438912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14" name="Text 12"/>
          <p:cNvSpPr/>
          <p:nvPr/>
        </p:nvSpPr>
        <p:spPr>
          <a:xfrm>
            <a:off x="8549640" y="20436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0" y="178308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278124"/>
            <a:ext cx="438912" cy="438912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18" name="Text 16"/>
          <p:cNvSpPr/>
          <p:nvPr/>
        </p:nvSpPr>
        <p:spPr>
          <a:xfrm>
            <a:off x="868680" y="327812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01752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Engineering Solution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480560" y="30175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78124"/>
            <a:ext cx="438912" cy="438912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22" name="Text 20"/>
          <p:cNvSpPr/>
          <p:nvPr/>
        </p:nvSpPr>
        <p:spPr>
          <a:xfrm>
            <a:off x="4709160" y="327812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301752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Solution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321040" y="30175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49640" y="3278124"/>
            <a:ext cx="438912" cy="438912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26" name="Text 24"/>
          <p:cNvSpPr/>
          <p:nvPr/>
        </p:nvSpPr>
        <p:spPr>
          <a:xfrm>
            <a:off x="8549640" y="327812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301752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&amp; Forecasting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0080" y="42519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4512564"/>
            <a:ext cx="438912" cy="438912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30" name="Text 28"/>
          <p:cNvSpPr/>
          <p:nvPr/>
        </p:nvSpPr>
        <p:spPr>
          <a:xfrm>
            <a:off x="868680" y="45125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3040" y="425196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4480560" y="42519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4512564"/>
            <a:ext cx="438912" cy="438912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34" name="Text 32"/>
          <p:cNvSpPr/>
          <p:nvPr/>
        </p:nvSpPr>
        <p:spPr>
          <a:xfrm>
            <a:off x="4709160" y="45125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0" y="425196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Impact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8321040" y="42519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49640" y="4512564"/>
            <a:ext cx="438912" cy="438912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38" name="Text 36"/>
          <p:cNvSpPr/>
          <p:nvPr/>
        </p:nvSpPr>
        <p:spPr>
          <a:xfrm>
            <a:off x="8549640" y="45125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44000" y="4251960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About NorthBridge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</a:t>
            </a:r>
            <a:r>
              <a:rPr lang="en-US" sz="14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 UK-based healthcare administration and operational support organization serving more than 680 healthcare clients. Core services span appointments, billing, insurance, complaints, referrals, and medical records administration.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across: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B2A5C"/>
          </a:solidFill>
        </p:spPr>
      </p:sp>
      <p:sp>
        <p:nvSpPr>
          <p:cNvPr id="7" name="Text 5"/>
          <p:cNvSpPr/>
          <p:nvPr/>
        </p:nvSpPr>
        <p:spPr>
          <a:xfrm>
            <a:off x="640080" y="388620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Manchester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48840" y="3886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B2A5C"/>
          </a:solidFill>
        </p:spPr>
      </p:sp>
      <p:sp>
        <p:nvSpPr>
          <p:cNvPr id="9" name="Text 7"/>
          <p:cNvSpPr/>
          <p:nvPr/>
        </p:nvSpPr>
        <p:spPr>
          <a:xfrm>
            <a:off x="2148840" y="388620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Leeds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3886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B2A5C"/>
          </a:solidFill>
        </p:spPr>
      </p:sp>
      <p:sp>
        <p:nvSpPr>
          <p:cNvPr id="11" name="Text 9"/>
          <p:cNvSpPr/>
          <p:nvPr/>
        </p:nvSpPr>
        <p:spPr>
          <a:xfrm>
            <a:off x="3657600" y="388620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Birmingham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66360" y="3886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B2A5C"/>
          </a:solidFill>
        </p:spPr>
      </p:sp>
      <p:sp>
        <p:nvSpPr>
          <p:cNvPr id="13" name="Text 11"/>
          <p:cNvSpPr/>
          <p:nvPr/>
        </p:nvSpPr>
        <p:spPr>
          <a:xfrm>
            <a:off x="5166360" y="388620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Edinburgh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040880" y="1600200"/>
            <a:ext cx="4480560" cy="1737360"/>
          </a:xfrm>
          <a:prstGeom prst="roundRect">
            <a:avLst>
              <a:gd name="adj" fmla="val 5263"/>
            </a:avLst>
          </a:prstGeom>
          <a:solidFill>
            <a:srgbClr val="1B2A5C"/>
          </a:solidFill>
        </p:spPr>
      </p:sp>
      <p:sp>
        <p:nvSpPr>
          <p:cNvPr id="15" name="Shape 13"/>
          <p:cNvSpPr/>
          <p:nvPr/>
        </p:nvSpPr>
        <p:spPr>
          <a:xfrm>
            <a:off x="7269480" y="1874520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0" descr="/home/claude/build/icons/buildin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92" y="1970532"/>
            <a:ext cx="493776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138160" y="180136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680+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138160" y="237744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clients served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040880" y="3566160"/>
            <a:ext cx="4480560" cy="1737360"/>
          </a:xfrm>
          <a:prstGeom prst="roundRect">
            <a:avLst>
              <a:gd name="adj" fmla="val 5263"/>
            </a:avLst>
          </a:prstGeom>
          <a:solidFill>
            <a:srgbClr val="1B2A5C"/>
          </a:solidFill>
        </p:spPr>
      </p:sp>
      <p:sp>
        <p:nvSpPr>
          <p:cNvPr id="20" name="Shape 17"/>
          <p:cNvSpPr/>
          <p:nvPr/>
        </p:nvSpPr>
        <p:spPr>
          <a:xfrm>
            <a:off x="7269480" y="3840480"/>
            <a:ext cx="685800" cy="6858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1" descr="/home/claude/build/icons/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492" y="3936492"/>
            <a:ext cx="493776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138160" y="37673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11,000+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8138160" y="434340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service tickets processed monthly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Challenges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141F45"/>
          </a:solidFill>
        </p:spPr>
      </p:sp>
      <p:sp>
        <p:nvSpPr>
          <p:cNvPr id="5" name="Shape 3"/>
          <p:cNvSpPr/>
          <p:nvPr/>
        </p:nvSpPr>
        <p:spPr>
          <a:xfrm>
            <a:off x="841248" y="1943100"/>
            <a:ext cx="274320" cy="27432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6" name="Text 4"/>
          <p:cNvSpPr/>
          <p:nvPr/>
        </p:nvSpPr>
        <p:spPr>
          <a:xfrm>
            <a:off x="1280160" y="1691640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Increasing first-response times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141F45"/>
          </a:solidFill>
        </p:spPr>
      </p:sp>
      <p:sp>
        <p:nvSpPr>
          <p:cNvPr id="8" name="Shape 6"/>
          <p:cNvSpPr/>
          <p:nvPr/>
        </p:nvSpPr>
        <p:spPr>
          <a:xfrm>
            <a:off x="6373368" y="1943100"/>
            <a:ext cx="274320" cy="27432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9" name="Text 7"/>
          <p:cNvSpPr/>
          <p:nvPr/>
        </p:nvSpPr>
        <p:spPr>
          <a:xfrm>
            <a:off x="6812280" y="1691640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Growing ticket backlogs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141F45"/>
          </a:solidFill>
        </p:spPr>
      </p:sp>
      <p:sp>
        <p:nvSpPr>
          <p:cNvPr id="11" name="Shape 9"/>
          <p:cNvSpPr/>
          <p:nvPr/>
        </p:nvSpPr>
        <p:spPr>
          <a:xfrm>
            <a:off x="841248" y="2976372"/>
            <a:ext cx="274320" cy="27432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12" name="Text 10"/>
          <p:cNvSpPr/>
          <p:nvPr/>
        </p:nvSpPr>
        <p:spPr>
          <a:xfrm>
            <a:off x="1280160" y="2724912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Frequent SLA breaches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2724912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141F45"/>
          </a:solidFill>
        </p:spPr>
      </p:sp>
      <p:sp>
        <p:nvSpPr>
          <p:cNvPr id="14" name="Shape 12"/>
          <p:cNvSpPr/>
          <p:nvPr/>
        </p:nvSpPr>
        <p:spPr>
          <a:xfrm>
            <a:off x="6373368" y="2976372"/>
            <a:ext cx="274320" cy="27432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15" name="Text 13"/>
          <p:cNvSpPr/>
          <p:nvPr/>
        </p:nvSpPr>
        <p:spPr>
          <a:xfrm>
            <a:off x="6812280" y="2724912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 workload distribution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758184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141F45"/>
          </a:solidFill>
        </p:spPr>
      </p:sp>
      <p:sp>
        <p:nvSpPr>
          <p:cNvPr id="17" name="Shape 15"/>
          <p:cNvSpPr/>
          <p:nvPr/>
        </p:nvSpPr>
        <p:spPr>
          <a:xfrm>
            <a:off x="841248" y="4009644"/>
            <a:ext cx="274320" cy="27432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18" name="Text 16"/>
          <p:cNvSpPr/>
          <p:nvPr/>
        </p:nvSpPr>
        <p:spPr>
          <a:xfrm>
            <a:off x="1280160" y="3758184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operational visibility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758184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141F45"/>
          </a:solidFill>
        </p:spPr>
      </p:sp>
      <p:sp>
        <p:nvSpPr>
          <p:cNvPr id="20" name="Shape 18"/>
          <p:cNvSpPr/>
          <p:nvPr/>
        </p:nvSpPr>
        <p:spPr>
          <a:xfrm>
            <a:off x="6373368" y="4009644"/>
            <a:ext cx="274320" cy="27432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21" name="Text 19"/>
          <p:cNvSpPr/>
          <p:nvPr/>
        </p:nvSpPr>
        <p:spPr>
          <a:xfrm>
            <a:off x="6812280" y="3758184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Delayed escalation handling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791456"/>
            <a:ext cx="5166360" cy="777240"/>
          </a:xfrm>
          <a:prstGeom prst="roundRect">
            <a:avLst>
              <a:gd name="adj" fmla="val 9412"/>
            </a:avLst>
          </a:prstGeom>
          <a:solidFill>
            <a:srgbClr val="141F45"/>
          </a:solidFill>
        </p:spPr>
      </p:sp>
      <p:sp>
        <p:nvSpPr>
          <p:cNvPr id="23" name="Shape 21"/>
          <p:cNvSpPr/>
          <p:nvPr/>
        </p:nvSpPr>
        <p:spPr>
          <a:xfrm>
            <a:off x="841248" y="5042916"/>
            <a:ext cx="274320" cy="27432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24" name="Text 22"/>
          <p:cNvSpPr/>
          <p:nvPr/>
        </p:nvSpPr>
        <p:spPr>
          <a:xfrm>
            <a:off x="1280160" y="4791456"/>
            <a:ext cx="4343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and fragmented reporting processes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93776" cy="49377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9" y="1961937"/>
            <a:ext cx="355519" cy="3555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420624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Centralize fragmented operational data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5080" y="1892808"/>
            <a:ext cx="493776" cy="49377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09" y="1961937"/>
            <a:ext cx="355519" cy="3555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691640"/>
            <a:ext cx="420624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visibility into ticket and SLA performance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278892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2990088"/>
            <a:ext cx="493776" cy="49377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9" y="3059217"/>
            <a:ext cx="355519" cy="3555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2788920"/>
            <a:ext cx="420624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tickets at risk of breaching SLAs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72200" y="278892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55080" y="2990088"/>
            <a:ext cx="493776" cy="49377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09" y="3059217"/>
            <a:ext cx="355519" cy="3555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2788920"/>
            <a:ext cx="420624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SLA breach volumes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388620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2960" y="4087368"/>
            <a:ext cx="493776" cy="49377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2" name="Image 4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9" y="4156497"/>
            <a:ext cx="355519" cy="3555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3886200"/>
            <a:ext cx="420624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backlog monitoring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172200" y="388620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55080" y="4087368"/>
            <a:ext cx="493776" cy="49377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6" name="Image 5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09" y="4156497"/>
            <a:ext cx="355519" cy="35551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3886200"/>
            <a:ext cx="420624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workload and capacity planning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40080" y="498348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22960" y="5184648"/>
            <a:ext cx="493776" cy="49377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0" name="Image 6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9" y="5253777"/>
            <a:ext cx="355519" cy="35551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463040" y="4983480"/>
            <a:ext cx="420624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 interactive Power BI dashboards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172200" y="4983480"/>
            <a:ext cx="52120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355080" y="5184648"/>
            <a:ext cx="493776" cy="493776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4" name="Image 7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09" y="5253777"/>
            <a:ext cx="355519" cy="355519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95160" y="4983480"/>
            <a:ext cx="420624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 future ticket demand and operational risk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ENGINEERING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286000"/>
            <a:ext cx="731520" cy="731520"/>
          </a:xfrm>
          <a:prstGeom prst="ellipse">
            <a:avLst/>
          </a:prstGeom>
          <a:solidFill>
            <a:srgbClr val="1B2A5C"/>
          </a:solidFill>
        </p:spPr>
      </p:sp>
      <p:pic>
        <p:nvPicPr>
          <p:cNvPr id="6" name="Image 0" descr="/home/claude/build/icons/clou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753" y="2388413"/>
            <a:ext cx="526694" cy="5266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2130552"/>
            <a:ext cx="329184" cy="329184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8" name="Text 5"/>
          <p:cNvSpPr/>
          <p:nvPr/>
        </p:nvSpPr>
        <p:spPr>
          <a:xfrm>
            <a:off x="804672" y="21305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Ingestion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7490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ingestion of ticket, client, and agent data.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264408" y="315468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502152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B2A5C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39412" y="22860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1" descr="/home/claude/build/icons/shiel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825" y="2388413"/>
            <a:ext cx="526694" cy="52669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666744" y="2130552"/>
            <a:ext cx="329184" cy="329184"/>
          </a:xfrm>
          <a:prstGeom prst="ellipse">
            <a:avLst/>
          </a:prstGeom>
          <a:solidFill>
            <a:srgbClr val="3E9AB4"/>
          </a:solidFill>
        </p:spPr>
      </p:sp>
      <p:sp>
        <p:nvSpPr>
          <p:cNvPr id="16" name="Text 12"/>
          <p:cNvSpPr/>
          <p:nvPr/>
        </p:nvSpPr>
        <p:spPr>
          <a:xfrm>
            <a:off x="3666744" y="21305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685032" y="32004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Storage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685032" y="37490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7C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storage of raw source files.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126480" y="315468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364224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301484" y="2286000"/>
            <a:ext cx="731520" cy="731520"/>
          </a:xfrm>
          <a:prstGeom prst="ellipse">
            <a:avLst/>
          </a:prstGeom>
          <a:solidFill>
            <a:srgbClr val="1B2A5C"/>
          </a:solidFill>
        </p:spPr>
      </p:sp>
      <p:pic>
        <p:nvPicPr>
          <p:cNvPr id="22" name="Image 2" descr="/home/claude/build/icons/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897" y="2388413"/>
            <a:ext cx="526694" cy="52669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528816" y="2130552"/>
            <a:ext cx="329184" cy="329184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24" name="Text 19"/>
          <p:cNvSpPr/>
          <p:nvPr/>
        </p:nvSpPr>
        <p:spPr>
          <a:xfrm>
            <a:off x="6528816" y="21305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47104" y="32004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Warehouse Load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547104" y="37490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loading into a centralized data warehouse.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988552" y="3154680"/>
            <a:ext cx="2194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9226296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B2A5C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0163556" y="22860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30" name="Image 3" descr="/home/claude/build/icons/bolt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5969" y="2388413"/>
            <a:ext cx="526694" cy="52669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9390888" y="2130552"/>
            <a:ext cx="329184" cy="329184"/>
          </a:xfrm>
          <a:prstGeom prst="ellipse">
            <a:avLst/>
          </a:prstGeom>
          <a:solidFill>
            <a:srgbClr val="3E9AB4"/>
          </a:solidFill>
        </p:spPr>
      </p:sp>
      <p:sp>
        <p:nvSpPr>
          <p:cNvPr id="32" name="Text 26"/>
          <p:cNvSpPr/>
          <p:nvPr/>
        </p:nvSpPr>
        <p:spPr>
          <a:xfrm>
            <a:off x="9390888" y="21305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9409176" y="320040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Manual Effort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409176" y="3749040"/>
            <a:ext cx="2240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7C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Eliminates manual data handling and reduces human error.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ENGINEERING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Organizing the Data the Way the Business Thinks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1C7293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1056" y="1965960"/>
            <a:ext cx="585216" cy="585216"/>
          </a:xfrm>
          <a:prstGeom prst="ellipse">
            <a:avLst/>
          </a:prstGeom>
          <a:solidFill>
            <a:srgbClr val="141F45"/>
          </a:solidFill>
        </p:spPr>
      </p:sp>
      <p:pic>
        <p:nvPicPr>
          <p:cNvPr id="6" name="Image 0" descr="/home/claude/build/icons/team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986" y="2047890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Who: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&amp; Client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83664" y="3200400"/>
            <a:ext cx="0" cy="502920"/>
          </a:xfrm>
          <a:prstGeom prst="line">
            <a:avLst/>
          </a:prstGeom>
          <a:noFill/>
          <a:ln w="12700">
            <a:solidFill>
              <a:srgbClr val="B9C0D6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3346704" y="178308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1C7293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965960"/>
            <a:ext cx="585216" cy="585216"/>
          </a:xfrm>
          <a:prstGeom prst="ellipse">
            <a:avLst/>
          </a:prstGeom>
          <a:solidFill>
            <a:srgbClr val="141F45"/>
          </a:solidFill>
        </p:spPr>
      </p:sp>
      <p:pic>
        <p:nvPicPr>
          <p:cNvPr id="11" name="Image 1" descr="/home/claude/build/icons/ta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610" y="2047890"/>
            <a:ext cx="421356" cy="4213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265176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What: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Category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90288" y="3200400"/>
            <a:ext cx="0" cy="502920"/>
          </a:xfrm>
          <a:prstGeom prst="line">
            <a:avLst/>
          </a:prstGeom>
          <a:noFill/>
          <a:ln w="12700">
            <a:solidFill>
              <a:srgbClr val="B9C0D6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6053328" y="178308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1C7293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04304" y="1965960"/>
            <a:ext cx="585216" cy="585216"/>
          </a:xfrm>
          <a:prstGeom prst="ellipse">
            <a:avLst/>
          </a:prstGeom>
          <a:solidFill>
            <a:srgbClr val="141F45"/>
          </a:solidFill>
        </p:spPr>
      </p:sp>
      <p:pic>
        <p:nvPicPr>
          <p:cNvPr id="16" name="Image 2" descr="/home/claude/build/icons/calend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234" y="2047890"/>
            <a:ext cx="421356" cy="4213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0488" y="265176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When: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Calendar Dates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296912" y="3200400"/>
            <a:ext cx="0" cy="502920"/>
          </a:xfrm>
          <a:prstGeom prst="line">
            <a:avLst/>
          </a:prstGeom>
          <a:noFill/>
          <a:ln w="12700">
            <a:solidFill>
              <a:srgbClr val="B9C0D6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8759952" y="178308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E8924A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10928" y="1965960"/>
            <a:ext cx="585216" cy="585216"/>
          </a:xfrm>
          <a:prstGeom prst="ellipse">
            <a:avLst/>
          </a:prstGeom>
          <a:solidFill>
            <a:srgbClr val="D97A2E"/>
          </a:solidFill>
        </p:spPr>
      </p:sp>
      <p:pic>
        <p:nvPicPr>
          <p:cNvPr id="21" name="Image 3" descr="/home/claude/build/icons/history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2858" y="2047890"/>
            <a:ext cx="421356" cy="4213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97112" y="2651760"/>
            <a:ext cx="22128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History: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&amp; Escalations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10003536" y="3200400"/>
            <a:ext cx="0" cy="502920"/>
          </a:xfrm>
          <a:prstGeom prst="line">
            <a:avLst/>
          </a:prstGeom>
          <a:noFill/>
          <a:ln w="12700">
            <a:solidFill>
              <a:srgbClr val="B9C0D6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3474720" y="3703320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1B2A5C"/>
          </a:solidFill>
          <a:effectLst>
            <a:outerShdw blurRad="635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3474720" y="3703320"/>
            <a:ext cx="49377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Events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(what actually happened)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22960" y="49834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information (“who”, “what”, “when”) stays separate from ticket events — so every report defines a client, agent, or category the exact same way, every time.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ENGINEERING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Cleaning &amp; Standardization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" y="21927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84248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ticket status values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83080" y="260604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labels across all systems for accurate tracking.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0312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build/icons/broom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131" y="219273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84248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duplicate ticket records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15200" y="260604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each ticket is counted once for accurate KPIs.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97764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6" name="Image 2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" y="406725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858768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Handled missing values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83080" y="448056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predefined business rules to fill data gaps.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977640"/>
            <a:ext cx="640080" cy="6400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1" name="Image 3" descr="/home/claude/build/icons/c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131" y="406725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858768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date &amp; timestamp formats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0" y="448056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Enables reliable time-based calculations and reporting.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Dashboard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141F45"/>
          </a:solidFill>
          <a:ln w="12700">
            <a:solidFill>
              <a:srgbClr val="3E9A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1580" y="22402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6" name="Image 0" descr="/home/claude/build/icons/deskto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93" y="23426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Summary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807208" y="18745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141F45"/>
          </a:solidFill>
          <a:ln w="12700">
            <a:solidFill>
              <a:srgbClr val="3E9AB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0148" y="22402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0" name="Image 1" descr="/home/claude/build/icons/deskto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561" y="2342693"/>
            <a:ext cx="526694" cy="526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44368" y="324612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Operations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065776" y="18745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141F45"/>
          </a:solidFill>
          <a:ln w="12700">
            <a:solidFill>
              <a:srgbClr val="3E9AB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28716" y="22402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4" name="Image 2" descr="/home/claude/build/icons/deskto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129" y="2342693"/>
            <a:ext cx="526694" cy="526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02936" y="324612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Risk Monitoring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324344" y="18745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141F45"/>
          </a:solidFill>
          <a:ln w="12700">
            <a:solidFill>
              <a:srgbClr val="3E9AB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987284" y="22402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3" descr="/home/claude/build/icons/deskto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697" y="2342693"/>
            <a:ext cx="526694" cy="5266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61504" y="324612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Workload &amp; Capacity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9582912" y="1874520"/>
            <a:ext cx="2057400" cy="2926080"/>
          </a:xfrm>
          <a:prstGeom prst="roundRect">
            <a:avLst>
              <a:gd name="adj" fmla="val 4444"/>
            </a:avLst>
          </a:prstGeom>
          <a:solidFill>
            <a:srgbClr val="141F45"/>
          </a:solidFill>
          <a:ln w="12700">
            <a:solidFill>
              <a:srgbClr val="3E9AB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245852" y="224028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2" name="Image 4" descr="/home/claude/build/icons/deskto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265" y="2342693"/>
            <a:ext cx="526694" cy="5266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20072" y="3246120"/>
            <a:ext cx="1783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Demand Forecasting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Value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6" name="Image 0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9" y="2108241"/>
            <a:ext cx="355519" cy="3555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SLA visibility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828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55080" y="2039112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10" name="Image 1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09" y="2108241"/>
            <a:ext cx="355519" cy="3555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8288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manual reporting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971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3182112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14" name="Image 2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9" y="3251241"/>
            <a:ext cx="355519" cy="3555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29718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workload allocation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72200" y="2971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55080" y="3182112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18" name="Image 3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09" y="3251241"/>
            <a:ext cx="355519" cy="3555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29718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decision-making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4114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2960" y="4325112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22" name="Image 4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9" y="4394241"/>
            <a:ext cx="355519" cy="3555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41148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customer experience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172200" y="4114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55080" y="4325112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26" name="Image 5" descr="/home/claude/build/icons/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09" y="4394241"/>
            <a:ext cx="355519" cy="35551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4114800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for proactive service management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Power BI Analytics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B2A5C"/>
          </a:solidFill>
        </p:spPr>
      </p:sp>
      <p:sp>
        <p:nvSpPr>
          <p:cNvPr id="5" name="Text 3"/>
          <p:cNvSpPr/>
          <p:nvPr/>
        </p:nvSpPr>
        <p:spPr>
          <a:xfrm>
            <a:off x="640080" y="182880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B2A5C"/>
          </a:solidFill>
        </p:spPr>
      </p:sp>
      <p:sp>
        <p:nvSpPr>
          <p:cNvPr id="8" name="Text 6"/>
          <p:cNvSpPr/>
          <p:nvPr/>
        </p:nvSpPr>
        <p:spPr>
          <a:xfrm>
            <a:off x="3474720" y="182880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25+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42316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73736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938528"/>
            <a:ext cx="164592" cy="16459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/>
          <p:nvPr/>
        </p:nvSpPr>
        <p:spPr>
          <a:xfrm>
            <a:off x="6903720" y="173736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Slicers &amp; Filtering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46520" y="246888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670048"/>
            <a:ext cx="164592" cy="16459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5" name="Text 13"/>
          <p:cNvSpPr/>
          <p:nvPr/>
        </p:nvSpPr>
        <p:spPr>
          <a:xfrm>
            <a:off x="6903720" y="246888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Monitoring &amp; Risk Tracking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320040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3401568"/>
            <a:ext cx="164592" cy="16459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6903720" y="320040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Capacity Planning Metrics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93192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133088"/>
            <a:ext cx="164592" cy="16459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1" name="Text 19"/>
          <p:cNvSpPr/>
          <p:nvPr/>
        </p:nvSpPr>
        <p:spPr>
          <a:xfrm>
            <a:off x="6903720" y="393192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Historical Trend Analysis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466344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4864608"/>
            <a:ext cx="164592" cy="16459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4" name="Text 22"/>
          <p:cNvSpPr/>
          <p:nvPr/>
        </p:nvSpPr>
        <p:spPr>
          <a:xfrm>
            <a:off x="6903720" y="466344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Executive-Level Reporting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5394960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5596128"/>
            <a:ext cx="164592" cy="164592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7" name="Text 25"/>
          <p:cNvSpPr/>
          <p:nvPr/>
        </p:nvSpPr>
        <p:spPr>
          <a:xfrm>
            <a:off x="6903720" y="5394960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Forecasting Support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Executive Summary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893560" cy="4389120"/>
          </a:xfrm>
          <a:prstGeom prst="roundRect">
            <a:avLst>
              <a:gd name="adj" fmla="val 1649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D5DA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16520" y="1569880"/>
            <a:ext cx="2212848" cy="93268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16520" y="167960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3,500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07960" y="2136808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Tickets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313416" y="1569880"/>
            <a:ext cx="2212848" cy="93268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313416" y="167960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3,301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404856" y="2136808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Resolved Tickets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16520" y="2731168"/>
            <a:ext cx="2212848" cy="93268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16520" y="2840896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79.5%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807960" y="3298096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Compliance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313416" y="2731168"/>
            <a:ext cx="2212848" cy="93268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313416" y="2840896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20.5%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404856" y="3298096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Breach Rate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716520" y="3892456"/>
            <a:ext cx="2212848" cy="93268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16520" y="4002184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5.1 hrs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807960" y="4459384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Response Time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0313416" y="3892456"/>
            <a:ext cx="2212848" cy="93268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313416" y="4002184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40.9 hrs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10404856" y="4459384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Resolution Time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7716520" y="5020310"/>
            <a:ext cx="429895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altLang="en-US" sz="1200" dirty="0"/>
              <a:t>Business Interpretation: NorthBridge demonstrates strong ticket resolution performance (94%); however, SLA compliance of 79.5% indicates opportunities to improve service responsiveness and reduce operational risk</a:t>
            </a:r>
            <a:r>
              <a:rPr lang="en-US" altLang="en-US" sz="1000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Executive Summary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79" y="1508760"/>
            <a:ext cx="10928144" cy="4892040"/>
          </a:xfrm>
          <a:prstGeom prst="roundRect">
            <a:avLst>
              <a:gd name="adj" fmla="val 1649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D5DA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62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 BI ANALYTICS SOLUTION</a:t>
            </a:r>
          </a:p>
        </p:txBody>
      </p:sp>
      <p:sp>
        <p:nvSpPr>
          <p:cNvPr id="65" name="Text 64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C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Executive Summary – Business Insights</a:t>
            </a:r>
          </a:p>
        </p:txBody>
      </p:sp>
      <p:sp>
        <p:nvSpPr>
          <p:cNvPr id="3" name="Shape 2"/>
          <p:cNvSpPr/>
          <p:nvPr/>
        </p:nvSpPr>
        <p:spPr>
          <a:xfrm>
            <a:off x="640080" y="1650000"/>
            <a:ext cx="3454400" cy="2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4"/>
          <p:cNvSpPr/>
          <p:nvPr/>
        </p:nvSpPr>
        <p:spPr>
          <a:xfrm>
            <a:off x="640080" y="1650000"/>
            <a:ext cx="45720" cy="275000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7" name="Shape 6"/>
          <p:cNvSpPr/>
          <p:nvPr/>
        </p:nvSpPr>
        <p:spPr>
          <a:xfrm>
            <a:off x="960120" y="187860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9" name="Icon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46531" y="1965011"/>
            <a:ext cx="238658" cy="238658"/>
          </a:xfrm>
          <a:prstGeom prst="rect">
            <a:avLst/>
          </a:prstGeom>
        </p:spPr>
      </p:pic>
      <p:sp>
        <p:nvSpPr>
          <p:cNvPr id="11" name="Text 10"/>
          <p:cNvSpPr/>
          <p:nvPr/>
        </p:nvSpPr>
        <p:spPr>
          <a:xfrm>
            <a:off x="1531620" y="1878600"/>
            <a:ext cx="22885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BUSINESS PERFORMANCE</a:t>
            </a:r>
          </a:p>
        </p:txBody>
      </p:sp>
      <p:sp>
        <p:nvSpPr>
          <p:cNvPr id="13" name="Shape 12"/>
          <p:cNvSpPr/>
          <p:nvPr/>
        </p:nvSpPr>
        <p:spPr>
          <a:xfrm>
            <a:off x="960120" y="2427240"/>
            <a:ext cx="2860040" cy="9525"/>
          </a:xfrm>
          <a:prstGeom prst="rect">
            <a:avLst/>
          </a:prstGeom>
          <a:solidFill>
            <a:srgbClr val="E9ECF4"/>
          </a:solidFill>
        </p:spPr>
      </p:sp>
      <p:sp>
        <p:nvSpPr>
          <p:cNvPr id="15" name="Shape 14"/>
          <p:cNvSpPr/>
          <p:nvPr/>
        </p:nvSpPr>
        <p:spPr>
          <a:xfrm>
            <a:off x="960120" y="2642378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17" name="Text 16"/>
          <p:cNvSpPr/>
          <p:nvPr/>
        </p:nvSpPr>
        <p:spPr>
          <a:xfrm>
            <a:off x="1143000" y="2587260"/>
            <a:ext cx="267716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94.3% of tickets resolved (3,301 of 3,500) — strong operational throughput.</a:t>
            </a:r>
          </a:p>
        </p:txBody>
      </p:sp>
      <p:sp>
        <p:nvSpPr>
          <p:cNvPr id="19" name="Shape 18"/>
          <p:cNvSpPr/>
          <p:nvPr/>
        </p:nvSpPr>
        <p:spPr>
          <a:xfrm>
            <a:off x="960120" y="3128026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21" name="Text 20"/>
          <p:cNvSpPr/>
          <p:nvPr/>
        </p:nvSpPr>
        <p:spPr>
          <a:xfrm>
            <a:off x="1143000" y="3072908"/>
            <a:ext cx="267716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79.5% SLA compliance — roughly 1 in 5 tickets missed contractual targets.</a:t>
            </a:r>
          </a:p>
        </p:txBody>
      </p:sp>
      <p:sp>
        <p:nvSpPr>
          <p:cNvPr id="23" name="Shape 22"/>
          <p:cNvSpPr/>
          <p:nvPr/>
        </p:nvSpPr>
        <p:spPr>
          <a:xfrm>
            <a:off x="4368800" y="1650000"/>
            <a:ext cx="3454400" cy="2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5" name="Shape 24"/>
          <p:cNvSpPr/>
          <p:nvPr/>
        </p:nvSpPr>
        <p:spPr>
          <a:xfrm>
            <a:off x="4368800" y="1650000"/>
            <a:ext cx="45720" cy="275000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27" name="Shape 26"/>
          <p:cNvSpPr/>
          <p:nvPr/>
        </p:nvSpPr>
        <p:spPr>
          <a:xfrm>
            <a:off x="4688840" y="187860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29" name="Icon 28"/>
          <p:cNvPicPr/>
          <p:nvPr/>
        </p:nvPicPr>
        <p:blipFill>
          <a:blip r:embed="rId3"/>
          <a:stretch>
            <a:fillRect/>
          </a:stretch>
        </p:blipFill>
        <p:spPr>
          <a:xfrm>
            <a:off x="4775251" y="1965011"/>
            <a:ext cx="238658" cy="238658"/>
          </a:xfrm>
          <a:prstGeom prst="rect">
            <a:avLst/>
          </a:prstGeom>
        </p:spPr>
      </p:pic>
      <p:sp>
        <p:nvSpPr>
          <p:cNvPr id="31" name="Text 30"/>
          <p:cNvSpPr/>
          <p:nvPr/>
        </p:nvSpPr>
        <p:spPr>
          <a:xfrm>
            <a:off x="5260340" y="1878600"/>
            <a:ext cx="22885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TIME-SERIES ANALYSIS</a:t>
            </a:r>
          </a:p>
        </p:txBody>
      </p:sp>
      <p:sp>
        <p:nvSpPr>
          <p:cNvPr id="33" name="Shape 32"/>
          <p:cNvSpPr/>
          <p:nvPr/>
        </p:nvSpPr>
        <p:spPr>
          <a:xfrm>
            <a:off x="4688840" y="2427240"/>
            <a:ext cx="2860040" cy="9525"/>
          </a:xfrm>
          <a:prstGeom prst="rect">
            <a:avLst/>
          </a:prstGeom>
          <a:solidFill>
            <a:srgbClr val="E9ECF4"/>
          </a:solidFill>
        </p:spPr>
      </p:sp>
      <p:sp>
        <p:nvSpPr>
          <p:cNvPr id="35" name="Shape 34"/>
          <p:cNvSpPr/>
          <p:nvPr/>
        </p:nvSpPr>
        <p:spPr>
          <a:xfrm>
            <a:off x="4688840" y="2642378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37" name="Text 36"/>
          <p:cNvSpPr/>
          <p:nvPr/>
        </p:nvSpPr>
        <p:spPr>
          <a:xfrm>
            <a:off x="4871720" y="2587260"/>
            <a:ext cx="267716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Ticket demand declined after Q1, then stabilised.</a:t>
            </a:r>
          </a:p>
        </p:txBody>
      </p:sp>
      <p:sp>
        <p:nvSpPr>
          <p:cNvPr id="39" name="Shape 38"/>
          <p:cNvSpPr/>
          <p:nvPr/>
        </p:nvSpPr>
        <p:spPr>
          <a:xfrm>
            <a:off x="4688840" y="3128026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41" name="Text 40"/>
          <p:cNvSpPr/>
          <p:nvPr/>
        </p:nvSpPr>
        <p:spPr>
          <a:xfrm>
            <a:off x="4871720" y="3072908"/>
            <a:ext cx="267716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Escalations followed the same downward pattern, easing pressure.</a:t>
            </a:r>
          </a:p>
        </p:txBody>
      </p:sp>
      <p:sp>
        <p:nvSpPr>
          <p:cNvPr id="43" name="Shape 42"/>
          <p:cNvSpPr/>
          <p:nvPr/>
        </p:nvSpPr>
        <p:spPr>
          <a:xfrm>
            <a:off x="4688840" y="3613674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45" name="Text 44"/>
          <p:cNvSpPr/>
          <p:nvPr/>
        </p:nvSpPr>
        <p:spPr>
          <a:xfrm>
            <a:off x="4871720" y="3558556"/>
            <a:ext cx="2677160" cy="536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Backlog kept rising despite fewer tickets — unresolved work is outpacing clearance.</a:t>
            </a:r>
          </a:p>
        </p:txBody>
      </p:sp>
      <p:sp>
        <p:nvSpPr>
          <p:cNvPr id="47" name="Shape 46"/>
          <p:cNvSpPr/>
          <p:nvPr/>
        </p:nvSpPr>
        <p:spPr>
          <a:xfrm>
            <a:off x="8097520" y="1650000"/>
            <a:ext cx="3454400" cy="2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9" name="Shape 48"/>
          <p:cNvSpPr/>
          <p:nvPr/>
        </p:nvSpPr>
        <p:spPr>
          <a:xfrm>
            <a:off x="8097520" y="1650000"/>
            <a:ext cx="45720" cy="275000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51" name="Shape 50"/>
          <p:cNvSpPr/>
          <p:nvPr/>
        </p:nvSpPr>
        <p:spPr>
          <a:xfrm>
            <a:off x="8417560" y="187860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53" name="Icon 52"/>
          <p:cNvPicPr/>
          <p:nvPr/>
        </p:nvPicPr>
        <p:blipFill>
          <a:blip r:embed="rId4"/>
          <a:stretch>
            <a:fillRect/>
          </a:stretch>
        </p:blipFill>
        <p:spPr>
          <a:xfrm>
            <a:off x="8503971" y="1965011"/>
            <a:ext cx="238658" cy="238658"/>
          </a:xfrm>
          <a:prstGeom prst="rect">
            <a:avLst/>
          </a:prstGeom>
        </p:spPr>
      </p:pic>
      <p:sp>
        <p:nvSpPr>
          <p:cNvPr id="55" name="Text 54"/>
          <p:cNvSpPr/>
          <p:nvPr/>
        </p:nvSpPr>
        <p:spPr>
          <a:xfrm>
            <a:off x="8989060" y="1878600"/>
            <a:ext cx="22885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OPERATIONAL PRIORITY</a:t>
            </a:r>
          </a:p>
        </p:txBody>
      </p:sp>
      <p:sp>
        <p:nvSpPr>
          <p:cNvPr id="57" name="Shape 56"/>
          <p:cNvSpPr/>
          <p:nvPr/>
        </p:nvSpPr>
        <p:spPr>
          <a:xfrm>
            <a:off x="8417560" y="2427240"/>
            <a:ext cx="2860040" cy="9525"/>
          </a:xfrm>
          <a:prstGeom prst="rect">
            <a:avLst/>
          </a:prstGeom>
          <a:solidFill>
            <a:srgbClr val="E9ECF4"/>
          </a:solidFill>
        </p:spPr>
      </p:sp>
      <p:sp>
        <p:nvSpPr>
          <p:cNvPr id="59" name="Shape 58"/>
          <p:cNvSpPr/>
          <p:nvPr/>
        </p:nvSpPr>
        <p:spPr>
          <a:xfrm>
            <a:off x="8417560" y="2642378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61" name="Text 60"/>
          <p:cNvSpPr/>
          <p:nvPr/>
        </p:nvSpPr>
        <p:spPr>
          <a:xfrm>
            <a:off x="8600440" y="2587260"/>
            <a:ext cx="2677160" cy="536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Manchester generates the highest ticket volume — the priority hub for process optimisation.</a:t>
            </a:r>
          </a:p>
        </p:txBody>
      </p:sp>
      <p:sp>
        <p:nvSpPr>
          <p:cNvPr id="67" name="Text 6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NorthBridge Health Services Ltd  |  Customer Service Ticket &amp; SLA Optimisation System</a:t>
            </a:r>
          </a:p>
        </p:txBody>
      </p:sp>
      <p:sp>
        <p:nvSpPr>
          <p:cNvPr id="69" name="Text 6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Ticket Operations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79" y="1508760"/>
            <a:ext cx="7026529" cy="4434840"/>
          </a:xfrm>
          <a:prstGeom prst="roundRect">
            <a:avLst>
              <a:gd name="adj" fmla="val 1649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D5DA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11966" y="112615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11966" y="1629076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911966" y="1629076"/>
            <a:ext cx="64008" cy="82296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12" name="Text 9"/>
          <p:cNvSpPr/>
          <p:nvPr/>
        </p:nvSpPr>
        <p:spPr>
          <a:xfrm>
            <a:off x="8140566" y="1629076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 Changes account for the highest ticket volume.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11966" y="2634916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11966" y="2634916"/>
            <a:ext cx="64008" cy="82296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15" name="Text 12"/>
          <p:cNvSpPr/>
          <p:nvPr/>
        </p:nvSpPr>
        <p:spPr>
          <a:xfrm>
            <a:off x="8140566" y="2634916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Manchester processes the largest number of support tickets.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11966" y="3640756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11966" y="3640756"/>
            <a:ext cx="64008" cy="82296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18" name="Text 15"/>
          <p:cNvSpPr/>
          <p:nvPr/>
        </p:nvSpPr>
        <p:spPr>
          <a:xfrm>
            <a:off x="8140566" y="3640756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remains the primary communication channel.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11966" y="4646596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911966" y="4646596"/>
            <a:ext cx="64008" cy="82296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21" name="Text 18"/>
          <p:cNvSpPr/>
          <p:nvPr/>
        </p:nvSpPr>
        <p:spPr>
          <a:xfrm>
            <a:off x="8140566" y="4646596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majority of tickets successfully reach closure.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7831201" y="5623560"/>
            <a:ext cx="429895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Business Interpretation: Appointment Change requests and Manchester operations represent the primary drivers of ticket demand. These areas should be prioritized for process improvement and resource allocation.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Ticket Operations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79" y="1508760"/>
            <a:ext cx="10896247" cy="4434840"/>
          </a:xfrm>
          <a:prstGeom prst="roundRect">
            <a:avLst>
              <a:gd name="adj" fmla="val 1649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D5DA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74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POWER BI ANALYTICS SOLUTION</a:t>
            </a:r>
          </a:p>
        </p:txBody>
      </p:sp>
      <p:sp>
        <p:nvSpPr>
          <p:cNvPr id="77" name="Text 76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C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Ticket Operations – Operational Analysis</a:t>
            </a:r>
          </a:p>
        </p:txBody>
      </p:sp>
      <p:sp>
        <p:nvSpPr>
          <p:cNvPr id="3" name="Shape 2"/>
          <p:cNvSpPr/>
          <p:nvPr/>
        </p:nvSpPr>
        <p:spPr>
          <a:xfrm>
            <a:off x="640080" y="1650000"/>
            <a:ext cx="5318760" cy="1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4"/>
          <p:cNvSpPr/>
          <p:nvPr/>
        </p:nvSpPr>
        <p:spPr>
          <a:xfrm>
            <a:off x="640080" y="1650000"/>
            <a:ext cx="45720" cy="190000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7" name="Shape 6"/>
          <p:cNvSpPr/>
          <p:nvPr/>
        </p:nvSpPr>
        <p:spPr>
          <a:xfrm>
            <a:off x="960120" y="187860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9" name="Icon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46531" y="1965011"/>
            <a:ext cx="238658" cy="238658"/>
          </a:xfrm>
          <a:prstGeom prst="rect">
            <a:avLst/>
          </a:prstGeom>
        </p:spPr>
      </p:pic>
      <p:sp>
        <p:nvSpPr>
          <p:cNvPr id="11" name="Text 10"/>
          <p:cNvSpPr/>
          <p:nvPr/>
        </p:nvSpPr>
        <p:spPr>
          <a:xfrm>
            <a:off x="1531620" y="1878600"/>
            <a:ext cx="41529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TIME-SERIES FINDINGS</a:t>
            </a:r>
          </a:p>
        </p:txBody>
      </p:sp>
      <p:sp>
        <p:nvSpPr>
          <p:cNvPr id="13" name="Shape 12"/>
          <p:cNvSpPr/>
          <p:nvPr/>
        </p:nvSpPr>
        <p:spPr>
          <a:xfrm>
            <a:off x="960120" y="2427240"/>
            <a:ext cx="4724400" cy="9525"/>
          </a:xfrm>
          <a:prstGeom prst="rect">
            <a:avLst/>
          </a:prstGeom>
          <a:solidFill>
            <a:srgbClr val="E9ECF4"/>
          </a:solidFill>
        </p:spPr>
      </p:sp>
      <p:sp>
        <p:nvSpPr>
          <p:cNvPr id="15" name="Shape 14"/>
          <p:cNvSpPr/>
          <p:nvPr/>
        </p:nvSpPr>
        <p:spPr>
          <a:xfrm>
            <a:off x="960120" y="2642378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17" name="Text 16"/>
          <p:cNvSpPr/>
          <p:nvPr/>
        </p:nvSpPr>
        <p:spPr>
          <a:xfrm>
            <a:off x="1143000" y="2587260"/>
            <a:ext cx="4541520" cy="178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Ticket demand stabilised after the sharp decline seen in April.</a:t>
            </a:r>
          </a:p>
        </p:txBody>
      </p:sp>
      <p:sp>
        <p:nvSpPr>
          <p:cNvPr id="19" name="Shape 18"/>
          <p:cNvSpPr/>
          <p:nvPr/>
        </p:nvSpPr>
        <p:spPr>
          <a:xfrm>
            <a:off x="960120" y="2949210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21" name="Text 20"/>
          <p:cNvSpPr/>
          <p:nvPr/>
        </p:nvSpPr>
        <p:spPr>
          <a:xfrm>
            <a:off x="1143000" y="2894092"/>
            <a:ext cx="4541520" cy="178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Operational workload has become more predictable.</a:t>
            </a:r>
          </a:p>
        </p:txBody>
      </p:sp>
      <p:sp>
        <p:nvSpPr>
          <p:cNvPr id="23" name="Shape 22"/>
          <p:cNvSpPr/>
          <p:nvPr/>
        </p:nvSpPr>
        <p:spPr>
          <a:xfrm>
            <a:off x="6233160" y="1650000"/>
            <a:ext cx="5318760" cy="2009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5" name="Shape 24"/>
          <p:cNvSpPr/>
          <p:nvPr/>
        </p:nvSpPr>
        <p:spPr>
          <a:xfrm>
            <a:off x="6233160" y="1650000"/>
            <a:ext cx="45720" cy="200914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27" name="Shape 26"/>
          <p:cNvSpPr/>
          <p:nvPr/>
        </p:nvSpPr>
        <p:spPr>
          <a:xfrm>
            <a:off x="6553200" y="187860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29" name="Icon 28"/>
          <p:cNvPicPr/>
          <p:nvPr/>
        </p:nvPicPr>
        <p:blipFill>
          <a:blip r:embed="rId3"/>
          <a:stretch>
            <a:fillRect/>
          </a:stretch>
        </p:blipFill>
        <p:spPr>
          <a:xfrm>
            <a:off x="6639611" y="1965011"/>
            <a:ext cx="238658" cy="238658"/>
          </a:xfrm>
          <a:prstGeom prst="rect">
            <a:avLst/>
          </a:prstGeom>
        </p:spPr>
      </p:pic>
      <p:sp>
        <p:nvSpPr>
          <p:cNvPr id="31" name="Text 30"/>
          <p:cNvSpPr/>
          <p:nvPr/>
        </p:nvSpPr>
        <p:spPr>
          <a:xfrm>
            <a:off x="7124700" y="1878600"/>
            <a:ext cx="41529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OPERATIONAL DRIVERS</a:t>
            </a:r>
          </a:p>
        </p:txBody>
      </p:sp>
      <p:sp>
        <p:nvSpPr>
          <p:cNvPr id="33" name="Shape 32"/>
          <p:cNvSpPr/>
          <p:nvPr/>
        </p:nvSpPr>
        <p:spPr>
          <a:xfrm>
            <a:off x="6553200" y="2427240"/>
            <a:ext cx="4724400" cy="9525"/>
          </a:xfrm>
          <a:prstGeom prst="rect">
            <a:avLst/>
          </a:prstGeom>
          <a:solidFill>
            <a:srgbClr val="E9ECF4"/>
          </a:solidFill>
        </p:spPr>
      </p:sp>
      <p:sp>
        <p:nvSpPr>
          <p:cNvPr id="35" name="Shape 34"/>
          <p:cNvSpPr/>
          <p:nvPr/>
        </p:nvSpPr>
        <p:spPr>
          <a:xfrm>
            <a:off x="6553200" y="2642378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37" name="Text 36"/>
          <p:cNvSpPr/>
          <p:nvPr/>
        </p:nvSpPr>
        <p:spPr>
          <a:xfrm>
            <a:off x="6736080" y="2587260"/>
            <a:ext cx="454152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Appointment Change requests remain the largest contributor to ticket demand.</a:t>
            </a:r>
          </a:p>
        </p:txBody>
      </p:sp>
      <p:sp>
        <p:nvSpPr>
          <p:cNvPr id="39" name="Shape 38"/>
          <p:cNvSpPr/>
          <p:nvPr/>
        </p:nvSpPr>
        <p:spPr>
          <a:xfrm>
            <a:off x="6553200" y="3128026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41" name="Text 40"/>
          <p:cNvSpPr/>
          <p:nvPr/>
        </p:nvSpPr>
        <p:spPr>
          <a:xfrm>
            <a:off x="6736080" y="3072908"/>
            <a:ext cx="454152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Email is the dominant channel — an opportunity for self-service automation.</a:t>
            </a:r>
          </a:p>
        </p:txBody>
      </p:sp>
      <p:sp>
        <p:nvSpPr>
          <p:cNvPr id="43" name="Shape 42"/>
          <p:cNvSpPr/>
          <p:nvPr/>
        </p:nvSpPr>
        <p:spPr>
          <a:xfrm>
            <a:off x="640080" y="3933460"/>
            <a:ext cx="5318760" cy="1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5" name="Shape 44"/>
          <p:cNvSpPr/>
          <p:nvPr/>
        </p:nvSpPr>
        <p:spPr>
          <a:xfrm>
            <a:off x="640080" y="3933460"/>
            <a:ext cx="45720" cy="190000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47" name="Shape 46"/>
          <p:cNvSpPr/>
          <p:nvPr/>
        </p:nvSpPr>
        <p:spPr>
          <a:xfrm>
            <a:off x="960120" y="416206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49" name="Icon 48"/>
          <p:cNvPicPr/>
          <p:nvPr/>
        </p:nvPicPr>
        <p:blipFill>
          <a:blip r:embed="rId4"/>
          <a:stretch>
            <a:fillRect/>
          </a:stretch>
        </p:blipFill>
        <p:spPr>
          <a:xfrm>
            <a:off x="1046531" y="4248471"/>
            <a:ext cx="238658" cy="238658"/>
          </a:xfrm>
          <a:prstGeom prst="rect">
            <a:avLst/>
          </a:prstGeom>
        </p:spPr>
      </p:pic>
      <p:sp>
        <p:nvSpPr>
          <p:cNvPr id="51" name="Text 50"/>
          <p:cNvSpPr/>
          <p:nvPr/>
        </p:nvSpPr>
        <p:spPr>
          <a:xfrm>
            <a:off x="1531620" y="4162060"/>
            <a:ext cx="41529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HUB PERFORMANCE</a:t>
            </a:r>
          </a:p>
        </p:txBody>
      </p:sp>
      <p:sp>
        <p:nvSpPr>
          <p:cNvPr id="53" name="Shape 52"/>
          <p:cNvSpPr/>
          <p:nvPr/>
        </p:nvSpPr>
        <p:spPr>
          <a:xfrm>
            <a:off x="960120" y="4710700"/>
            <a:ext cx="4724400" cy="9525"/>
          </a:xfrm>
          <a:prstGeom prst="rect">
            <a:avLst/>
          </a:prstGeom>
          <a:solidFill>
            <a:srgbClr val="E9ECF4"/>
          </a:solidFill>
        </p:spPr>
      </p:sp>
      <p:sp>
        <p:nvSpPr>
          <p:cNvPr id="55" name="Shape 54"/>
          <p:cNvSpPr/>
          <p:nvPr/>
        </p:nvSpPr>
        <p:spPr>
          <a:xfrm>
            <a:off x="960120" y="4925838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57" name="Text 56"/>
          <p:cNvSpPr/>
          <p:nvPr/>
        </p:nvSpPr>
        <p:spPr>
          <a:xfrm>
            <a:off x="1143000" y="4870720"/>
            <a:ext cx="454152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Manchester consistently records the highest ticket volumes, suggesting elevated demand or operational bottlenecks.</a:t>
            </a:r>
          </a:p>
        </p:txBody>
      </p:sp>
      <p:sp>
        <p:nvSpPr>
          <p:cNvPr id="59" name="Shape 58"/>
          <p:cNvSpPr/>
          <p:nvPr/>
        </p:nvSpPr>
        <p:spPr>
          <a:xfrm>
            <a:off x="6233160" y="3933460"/>
            <a:ext cx="5318760" cy="1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61" name="Shape 60"/>
          <p:cNvSpPr/>
          <p:nvPr/>
        </p:nvSpPr>
        <p:spPr>
          <a:xfrm>
            <a:off x="6233160" y="3933460"/>
            <a:ext cx="45720" cy="190000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63" name="Shape 62"/>
          <p:cNvSpPr/>
          <p:nvPr/>
        </p:nvSpPr>
        <p:spPr>
          <a:xfrm>
            <a:off x="6553200" y="416206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65" name="Icon 64"/>
          <p:cNvPicPr/>
          <p:nvPr/>
        </p:nvPicPr>
        <p:blipFill>
          <a:blip r:embed="rId5"/>
          <a:stretch>
            <a:fillRect/>
          </a:stretch>
        </p:blipFill>
        <p:spPr>
          <a:xfrm>
            <a:off x="6639611" y="4248471"/>
            <a:ext cx="238658" cy="238658"/>
          </a:xfrm>
          <a:prstGeom prst="rect">
            <a:avLst/>
          </a:prstGeom>
        </p:spPr>
      </p:pic>
      <p:sp>
        <p:nvSpPr>
          <p:cNvPr id="67" name="Text 66"/>
          <p:cNvSpPr/>
          <p:nvPr/>
        </p:nvSpPr>
        <p:spPr>
          <a:xfrm>
            <a:off x="7124700" y="4162060"/>
            <a:ext cx="41529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OPERATIONAL OBSERVATION</a:t>
            </a:r>
          </a:p>
        </p:txBody>
      </p:sp>
      <p:sp>
        <p:nvSpPr>
          <p:cNvPr id="69" name="Shape 68"/>
          <p:cNvSpPr/>
          <p:nvPr/>
        </p:nvSpPr>
        <p:spPr>
          <a:xfrm>
            <a:off x="6553200" y="4710700"/>
            <a:ext cx="4724400" cy="9525"/>
          </a:xfrm>
          <a:prstGeom prst="rect">
            <a:avLst/>
          </a:prstGeom>
          <a:solidFill>
            <a:srgbClr val="E9ECF4"/>
          </a:solidFill>
        </p:spPr>
      </p:sp>
      <p:sp>
        <p:nvSpPr>
          <p:cNvPr id="71" name="Shape 70"/>
          <p:cNvSpPr/>
          <p:nvPr/>
        </p:nvSpPr>
        <p:spPr>
          <a:xfrm>
            <a:off x="6553200" y="4925838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73" name="Text 72"/>
          <p:cNvSpPr/>
          <p:nvPr/>
        </p:nvSpPr>
        <p:spPr>
          <a:xfrm>
            <a:off x="6736080" y="4870720"/>
            <a:ext cx="454152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Most tickets ultimately reach closure, demonstrating effective ticket lifecycle management.</a:t>
            </a:r>
          </a:p>
        </p:txBody>
      </p:sp>
      <p:sp>
        <p:nvSpPr>
          <p:cNvPr id="79" name="Text 7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NorthBridge Health Services Ltd  |  Customer Service Ticket &amp; SLA Optimisation System</a:t>
            </a:r>
          </a:p>
        </p:txBody>
      </p:sp>
      <p:sp>
        <p:nvSpPr>
          <p:cNvPr id="81" name="Text 8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SLA Risk Monitoring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79" y="1508760"/>
            <a:ext cx="6897945" cy="4434840"/>
          </a:xfrm>
          <a:prstGeom prst="roundRect">
            <a:avLst>
              <a:gd name="adj" fmla="val 1649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3E9AB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0" y="1517714"/>
            <a:ext cx="2212848" cy="960120"/>
          </a:xfrm>
          <a:prstGeom prst="roundRect">
            <a:avLst>
              <a:gd name="adj" fmla="val 7619"/>
            </a:avLst>
          </a:prstGeom>
          <a:solidFill>
            <a:srgbClr val="141F45"/>
          </a:solidFill>
        </p:spPr>
      </p:sp>
      <p:sp>
        <p:nvSpPr>
          <p:cNvPr id="10" name="Text 7"/>
          <p:cNvSpPr/>
          <p:nvPr/>
        </p:nvSpPr>
        <p:spPr>
          <a:xfrm>
            <a:off x="7680960" y="162744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79.5%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0" y="208464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C7C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Compliance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277856" y="1517714"/>
            <a:ext cx="2212848" cy="960120"/>
          </a:xfrm>
          <a:prstGeom prst="roundRect">
            <a:avLst>
              <a:gd name="adj" fmla="val 7619"/>
            </a:avLst>
          </a:prstGeom>
          <a:solidFill>
            <a:srgbClr val="141F45"/>
          </a:solidFill>
        </p:spPr>
      </p:sp>
      <p:sp>
        <p:nvSpPr>
          <p:cNvPr id="13" name="Text 10"/>
          <p:cNvSpPr/>
          <p:nvPr/>
        </p:nvSpPr>
        <p:spPr>
          <a:xfrm>
            <a:off x="10277856" y="1627442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677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369296" y="2084642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C7C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Breaches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680960" y="2679002"/>
            <a:ext cx="2212848" cy="960120"/>
          </a:xfrm>
          <a:prstGeom prst="roundRect">
            <a:avLst>
              <a:gd name="adj" fmla="val 7619"/>
            </a:avLst>
          </a:prstGeom>
          <a:solidFill>
            <a:srgbClr val="141F45"/>
          </a:solidFill>
        </p:spPr>
      </p:sp>
      <p:sp>
        <p:nvSpPr>
          <p:cNvPr id="16" name="Text 13"/>
          <p:cNvSpPr/>
          <p:nvPr/>
        </p:nvSpPr>
        <p:spPr>
          <a:xfrm>
            <a:off x="7680960" y="2788730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122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772400" y="324593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C7C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At-Risk Tickets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277856" y="2679002"/>
            <a:ext cx="2212848" cy="960120"/>
          </a:xfrm>
          <a:prstGeom prst="roundRect">
            <a:avLst>
              <a:gd name="adj" fmla="val 7619"/>
            </a:avLst>
          </a:prstGeom>
          <a:solidFill>
            <a:srgbClr val="141F45"/>
          </a:solidFill>
        </p:spPr>
      </p:sp>
      <p:sp>
        <p:nvSpPr>
          <p:cNvPr id="19" name="Text 16"/>
          <p:cNvSpPr/>
          <p:nvPr/>
        </p:nvSpPr>
        <p:spPr>
          <a:xfrm>
            <a:off x="10277856" y="2788730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13.3%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369296" y="324593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C7C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Escalation Rate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675185" y="387705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675185" y="4279392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3" name="Text 20"/>
          <p:cNvSpPr/>
          <p:nvPr/>
        </p:nvSpPr>
        <p:spPr>
          <a:xfrm>
            <a:off x="7903785" y="417880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P3 Standard tickets contribute the highest SLA burden.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75185" y="4663440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5" name="Text 22"/>
          <p:cNvSpPr/>
          <p:nvPr/>
        </p:nvSpPr>
        <p:spPr>
          <a:xfrm>
            <a:off x="7903785" y="4562856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performance varies significantly by ticket category.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675185" y="5047488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7" name="Text 24"/>
          <p:cNvSpPr/>
          <p:nvPr/>
        </p:nvSpPr>
        <p:spPr>
          <a:xfrm>
            <a:off x="7903785" y="494690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At-risk tickets provide opportunities for proactive intervention.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675185" y="5633084"/>
            <a:ext cx="4433396" cy="7677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altLang="en-US" sz="12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Interpretation: P3 Standard tickets contribute disproportionately to SLA risk, suggesting that targeted interventions and proactive monitoring could significantly improve compliance rates</a:t>
            </a:r>
            <a:r>
              <a:rPr lang="en-US" sz="12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SLA Risk Monitoring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79" y="1508760"/>
            <a:ext cx="10906879" cy="4434840"/>
          </a:xfrm>
          <a:prstGeom prst="roundRect">
            <a:avLst>
              <a:gd name="adj" fmla="val 1649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3E9AB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74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DATA ANALYTICS SOLUTION</a:t>
            </a:r>
          </a:p>
        </p:txBody>
      </p:sp>
      <p:sp>
        <p:nvSpPr>
          <p:cNvPr id="77" name="Text 76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SLA Monitoring – Operational Risk Analysis</a:t>
            </a:r>
          </a:p>
        </p:txBody>
      </p:sp>
      <p:sp>
        <p:nvSpPr>
          <p:cNvPr id="3" name="Shape 2"/>
          <p:cNvSpPr/>
          <p:nvPr/>
        </p:nvSpPr>
        <p:spPr>
          <a:xfrm>
            <a:off x="640080" y="1650000"/>
            <a:ext cx="10911840" cy="1800000"/>
          </a:xfrm>
          <a:prstGeom prst="roundRect">
            <a:avLst>
              <a:gd name="adj" fmla="val 4000"/>
            </a:avLst>
          </a:prstGeom>
          <a:solidFill>
            <a:srgbClr val="23305F"/>
          </a:solidFill>
          <a:ln w="12700">
            <a:solidFill>
              <a:srgbClr val="E8924A"/>
            </a:solidFill>
          </a:ln>
          <a:effectLst/>
        </p:spPr>
      </p:sp>
      <p:sp>
        <p:nvSpPr>
          <p:cNvPr id="5" name="Text 4"/>
          <p:cNvSpPr/>
          <p:nvPr/>
        </p:nvSpPr>
        <p:spPr>
          <a:xfrm>
            <a:off x="868680" y="1878600"/>
            <a:ext cx="2390241" cy="7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924A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122</a:t>
            </a:r>
          </a:p>
        </p:txBody>
      </p:sp>
      <p:sp>
        <p:nvSpPr>
          <p:cNvPr id="7" name="Text 6"/>
          <p:cNvSpPr/>
          <p:nvPr/>
        </p:nvSpPr>
        <p:spPr>
          <a:xfrm>
            <a:off x="868680" y="2578600"/>
            <a:ext cx="2390241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4E8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TICKETS
AT RISK</a:t>
            </a:r>
          </a:p>
        </p:txBody>
      </p:sp>
      <p:sp>
        <p:nvSpPr>
          <p:cNvPr id="9" name="Shape 8"/>
          <p:cNvSpPr/>
          <p:nvPr/>
        </p:nvSpPr>
        <p:spPr>
          <a:xfrm>
            <a:off x="3258921" y="1878600"/>
            <a:ext cx="12700" cy="134280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11" name="Shape 10"/>
          <p:cNvSpPr/>
          <p:nvPr/>
        </p:nvSpPr>
        <p:spPr>
          <a:xfrm>
            <a:off x="3487521" y="187860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13" name="Icon 12"/>
          <p:cNvPicPr/>
          <p:nvPr/>
        </p:nvPicPr>
        <p:blipFill>
          <a:blip r:embed="rId2"/>
          <a:stretch>
            <a:fillRect/>
          </a:stretch>
        </p:blipFill>
        <p:spPr>
          <a:xfrm>
            <a:off x="3573932" y="1965011"/>
            <a:ext cx="238658" cy="238658"/>
          </a:xfrm>
          <a:prstGeom prst="rect">
            <a:avLst/>
          </a:prstGeom>
        </p:spPr>
      </p:pic>
      <p:sp>
        <p:nvSpPr>
          <p:cNvPr id="15" name="Text 14"/>
          <p:cNvSpPr/>
          <p:nvPr/>
        </p:nvSpPr>
        <p:spPr>
          <a:xfrm>
            <a:off x="4059021" y="1878600"/>
            <a:ext cx="7264299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AT-RISK TICKETS — WHAT THEY ARE &amp; WHY THEY MATTER</a:t>
            </a:r>
          </a:p>
        </p:txBody>
      </p:sp>
      <p:sp>
        <p:nvSpPr>
          <p:cNvPr id="17" name="Shape 16"/>
          <p:cNvSpPr/>
          <p:nvPr/>
        </p:nvSpPr>
        <p:spPr>
          <a:xfrm>
            <a:off x="3487521" y="2427240"/>
            <a:ext cx="7835799" cy="9525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19" name="Shape 18"/>
          <p:cNvSpPr/>
          <p:nvPr/>
        </p:nvSpPr>
        <p:spPr>
          <a:xfrm>
            <a:off x="3487521" y="2642378"/>
            <a:ext cx="68580" cy="685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1" name="Text 20"/>
          <p:cNvSpPr/>
          <p:nvPr/>
        </p:nvSpPr>
        <p:spPr>
          <a:xfrm>
            <a:off x="3670401" y="2587260"/>
            <a:ext cx="7652919" cy="178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122 tickets are classified At-Risk: approaching their SLA deadline but not yet in breach.</a:t>
            </a:r>
          </a:p>
        </p:txBody>
      </p:sp>
      <p:sp>
        <p:nvSpPr>
          <p:cNvPr id="23" name="Shape 22"/>
          <p:cNvSpPr/>
          <p:nvPr/>
        </p:nvSpPr>
        <p:spPr>
          <a:xfrm>
            <a:off x="3487521" y="2949210"/>
            <a:ext cx="68580" cy="685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5" name="Text 24"/>
          <p:cNvSpPr/>
          <p:nvPr/>
        </p:nvSpPr>
        <p:spPr>
          <a:xfrm>
            <a:off x="3670401" y="2894092"/>
            <a:ext cx="7652919" cy="178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They flag an opportunity for proactive intervention before a contractual failure occurs.</a:t>
            </a:r>
          </a:p>
        </p:txBody>
      </p:sp>
      <p:sp>
        <p:nvSpPr>
          <p:cNvPr id="27" name="Shape 26"/>
          <p:cNvSpPr/>
          <p:nvPr/>
        </p:nvSpPr>
        <p:spPr>
          <a:xfrm>
            <a:off x="640080" y="3724320"/>
            <a:ext cx="3454400" cy="1881124"/>
          </a:xfrm>
          <a:prstGeom prst="roundRect">
            <a:avLst>
              <a:gd name="adj" fmla="val 5000"/>
            </a:avLst>
          </a:prstGeom>
          <a:solidFill>
            <a:srgbClr val="141F45"/>
          </a:solidFill>
          <a:effectLst/>
        </p:spPr>
      </p:sp>
      <p:sp>
        <p:nvSpPr>
          <p:cNvPr id="29" name="Shape 28"/>
          <p:cNvSpPr/>
          <p:nvPr/>
        </p:nvSpPr>
        <p:spPr>
          <a:xfrm>
            <a:off x="640080" y="3724320"/>
            <a:ext cx="45720" cy="1881124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31" name="Shape 30"/>
          <p:cNvSpPr/>
          <p:nvPr/>
        </p:nvSpPr>
        <p:spPr>
          <a:xfrm>
            <a:off x="960120" y="395292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33" name="Icon 32"/>
          <p:cNvPicPr/>
          <p:nvPr/>
        </p:nvPicPr>
        <p:blipFill>
          <a:blip r:embed="rId3"/>
          <a:stretch>
            <a:fillRect/>
          </a:stretch>
        </p:blipFill>
        <p:spPr>
          <a:xfrm>
            <a:off x="1046531" y="4039331"/>
            <a:ext cx="238658" cy="238658"/>
          </a:xfrm>
          <a:prstGeom prst="rect">
            <a:avLst/>
          </a:prstGeom>
        </p:spPr>
      </p:pic>
      <p:sp>
        <p:nvSpPr>
          <p:cNvPr id="35" name="Text 34"/>
          <p:cNvSpPr/>
          <p:nvPr/>
        </p:nvSpPr>
        <p:spPr>
          <a:xfrm>
            <a:off x="1531620" y="3952920"/>
            <a:ext cx="22885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KEY FINDING</a:t>
            </a:r>
          </a:p>
        </p:txBody>
      </p:sp>
      <p:sp>
        <p:nvSpPr>
          <p:cNvPr id="37" name="Shape 36"/>
          <p:cNvSpPr/>
          <p:nvPr/>
        </p:nvSpPr>
        <p:spPr>
          <a:xfrm>
            <a:off x="960120" y="4501560"/>
            <a:ext cx="2860040" cy="9525"/>
          </a:xfrm>
          <a:prstGeom prst="rect">
            <a:avLst/>
          </a:prstGeom>
          <a:solidFill>
            <a:srgbClr val="2E3D73"/>
          </a:solidFill>
        </p:spPr>
      </p:sp>
      <p:sp>
        <p:nvSpPr>
          <p:cNvPr id="39" name="Shape 38"/>
          <p:cNvSpPr/>
          <p:nvPr/>
        </p:nvSpPr>
        <p:spPr>
          <a:xfrm>
            <a:off x="960120" y="4716698"/>
            <a:ext cx="68580" cy="685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41" name="Text 40"/>
          <p:cNvSpPr/>
          <p:nvPr/>
        </p:nvSpPr>
        <p:spPr>
          <a:xfrm>
            <a:off x="1143000" y="4661580"/>
            <a:ext cx="2677160" cy="715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First-response compliance exceeds 80%, but overall SLA compliance is lower — delays occur later in the ticket lifecycle.</a:t>
            </a:r>
          </a:p>
        </p:txBody>
      </p:sp>
      <p:sp>
        <p:nvSpPr>
          <p:cNvPr id="43" name="Shape 42"/>
          <p:cNvSpPr/>
          <p:nvPr/>
        </p:nvSpPr>
        <p:spPr>
          <a:xfrm>
            <a:off x="4368800" y="3724320"/>
            <a:ext cx="3454400" cy="1800000"/>
          </a:xfrm>
          <a:prstGeom prst="roundRect">
            <a:avLst>
              <a:gd name="adj" fmla="val 5000"/>
            </a:avLst>
          </a:prstGeom>
          <a:solidFill>
            <a:srgbClr val="141F45"/>
          </a:solidFill>
          <a:effectLst/>
        </p:spPr>
      </p:sp>
      <p:sp>
        <p:nvSpPr>
          <p:cNvPr id="45" name="Shape 44"/>
          <p:cNvSpPr/>
          <p:nvPr/>
        </p:nvSpPr>
        <p:spPr>
          <a:xfrm>
            <a:off x="4368800" y="3724320"/>
            <a:ext cx="45720" cy="180000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47" name="Shape 46"/>
          <p:cNvSpPr/>
          <p:nvPr/>
        </p:nvSpPr>
        <p:spPr>
          <a:xfrm>
            <a:off x="4688840" y="395292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49" name="Icon 48"/>
          <p:cNvPicPr/>
          <p:nvPr/>
        </p:nvPicPr>
        <p:blipFill>
          <a:blip r:embed="rId4"/>
          <a:stretch>
            <a:fillRect/>
          </a:stretch>
        </p:blipFill>
        <p:spPr>
          <a:xfrm>
            <a:off x="4775251" y="4039331"/>
            <a:ext cx="238658" cy="238658"/>
          </a:xfrm>
          <a:prstGeom prst="rect">
            <a:avLst/>
          </a:prstGeom>
        </p:spPr>
      </p:pic>
      <p:sp>
        <p:nvSpPr>
          <p:cNvPr id="51" name="Text 50"/>
          <p:cNvSpPr/>
          <p:nvPr/>
        </p:nvSpPr>
        <p:spPr>
          <a:xfrm>
            <a:off x="5260340" y="3952920"/>
            <a:ext cx="22885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PRIORITY ANALYSIS</a:t>
            </a:r>
          </a:p>
        </p:txBody>
      </p:sp>
      <p:sp>
        <p:nvSpPr>
          <p:cNvPr id="53" name="Shape 52"/>
          <p:cNvSpPr/>
          <p:nvPr/>
        </p:nvSpPr>
        <p:spPr>
          <a:xfrm>
            <a:off x="4688840" y="4501560"/>
            <a:ext cx="2860040" cy="9525"/>
          </a:xfrm>
          <a:prstGeom prst="rect">
            <a:avLst/>
          </a:prstGeom>
          <a:solidFill>
            <a:srgbClr val="2E3D73"/>
          </a:solidFill>
        </p:spPr>
      </p:sp>
      <p:sp>
        <p:nvSpPr>
          <p:cNvPr id="55" name="Shape 54"/>
          <p:cNvSpPr/>
          <p:nvPr/>
        </p:nvSpPr>
        <p:spPr>
          <a:xfrm>
            <a:off x="4688840" y="4716698"/>
            <a:ext cx="68580" cy="685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7" name="Text 56"/>
          <p:cNvSpPr/>
          <p:nvPr/>
        </p:nvSpPr>
        <p:spPr>
          <a:xfrm>
            <a:off x="4871720" y="4661580"/>
            <a:ext cx="2677160" cy="536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Most at-risk tickets sit in the P3 Standard category — the highest-impact area for improvement.</a:t>
            </a:r>
          </a:p>
        </p:txBody>
      </p:sp>
      <p:sp>
        <p:nvSpPr>
          <p:cNvPr id="59" name="Shape 58"/>
          <p:cNvSpPr/>
          <p:nvPr/>
        </p:nvSpPr>
        <p:spPr>
          <a:xfrm>
            <a:off x="8097520" y="3724320"/>
            <a:ext cx="3454400" cy="1800000"/>
          </a:xfrm>
          <a:prstGeom prst="roundRect">
            <a:avLst>
              <a:gd name="adj" fmla="val 5000"/>
            </a:avLst>
          </a:prstGeom>
          <a:solidFill>
            <a:srgbClr val="141F45"/>
          </a:solidFill>
          <a:effectLst/>
        </p:spPr>
      </p:sp>
      <p:sp>
        <p:nvSpPr>
          <p:cNvPr id="61" name="Shape 60"/>
          <p:cNvSpPr/>
          <p:nvPr/>
        </p:nvSpPr>
        <p:spPr>
          <a:xfrm>
            <a:off x="8097520" y="3724320"/>
            <a:ext cx="45720" cy="180000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63" name="Shape 62"/>
          <p:cNvSpPr/>
          <p:nvPr/>
        </p:nvSpPr>
        <p:spPr>
          <a:xfrm>
            <a:off x="8417560" y="395292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65" name="Icon 64"/>
          <p:cNvPicPr/>
          <p:nvPr/>
        </p:nvPicPr>
        <p:blipFill>
          <a:blip r:embed="rId5"/>
          <a:stretch>
            <a:fillRect/>
          </a:stretch>
        </p:blipFill>
        <p:spPr>
          <a:xfrm>
            <a:off x="8503971" y="4039331"/>
            <a:ext cx="238658" cy="238658"/>
          </a:xfrm>
          <a:prstGeom prst="rect">
            <a:avLst/>
          </a:prstGeom>
        </p:spPr>
      </p:pic>
      <p:sp>
        <p:nvSpPr>
          <p:cNvPr id="67" name="Text 66"/>
          <p:cNvSpPr/>
          <p:nvPr/>
        </p:nvSpPr>
        <p:spPr>
          <a:xfrm>
            <a:off x="8989060" y="3952920"/>
            <a:ext cx="22885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TIME-SERIES ANALYSIS</a:t>
            </a:r>
          </a:p>
        </p:txBody>
      </p:sp>
      <p:sp>
        <p:nvSpPr>
          <p:cNvPr id="69" name="Shape 68"/>
          <p:cNvSpPr/>
          <p:nvPr/>
        </p:nvSpPr>
        <p:spPr>
          <a:xfrm>
            <a:off x="8417560" y="4501560"/>
            <a:ext cx="2860040" cy="9525"/>
          </a:xfrm>
          <a:prstGeom prst="rect">
            <a:avLst/>
          </a:prstGeom>
          <a:solidFill>
            <a:srgbClr val="2E3D73"/>
          </a:solidFill>
        </p:spPr>
      </p:sp>
      <p:sp>
        <p:nvSpPr>
          <p:cNvPr id="71" name="Shape 70"/>
          <p:cNvSpPr/>
          <p:nvPr/>
        </p:nvSpPr>
        <p:spPr>
          <a:xfrm>
            <a:off x="8417560" y="4716698"/>
            <a:ext cx="68580" cy="6858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73" name="Text 72"/>
          <p:cNvSpPr/>
          <p:nvPr/>
        </p:nvSpPr>
        <p:spPr>
          <a:xfrm>
            <a:off x="8600440" y="4661580"/>
            <a:ext cx="2677160" cy="536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Monthly SLA performance fluctuates rather than improving consistently, pointing to recurring constraints.</a:t>
            </a:r>
          </a:p>
        </p:txBody>
      </p:sp>
      <p:sp>
        <p:nvSpPr>
          <p:cNvPr id="79" name="Text 7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NorthBridge Health Services Ltd  |  Customer Service Ticket &amp; SLA Optimisation System</a:t>
            </a:r>
          </a:p>
        </p:txBody>
      </p:sp>
      <p:sp>
        <p:nvSpPr>
          <p:cNvPr id="81" name="Text 8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Workload &amp; Capacity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6583680" cy="4434840"/>
          </a:xfrm>
          <a:prstGeom prst="roundRect">
            <a:avLst>
              <a:gd name="adj" fmla="val 1649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D5DA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0" y="150876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0" y="161848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114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589520" y="2075688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Active Agents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094976" y="150876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094976" y="161848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2,401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0186416" y="2075688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 Capacity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98080" y="2670048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498080" y="2779776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2,201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7589520" y="3236976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Capacity Gap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094976" y="2670048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094976" y="2779776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8.33%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186416" y="3236976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Capacity Utilization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98080" y="387705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498080" y="4279392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3" name="Text 20"/>
          <p:cNvSpPr/>
          <p:nvPr/>
        </p:nvSpPr>
        <p:spPr>
          <a:xfrm>
            <a:off x="7726680" y="417880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Significant unused capacity exists across the service desk.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498080" y="4663440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5" name="Text 22"/>
          <p:cNvSpPr/>
          <p:nvPr/>
        </p:nvSpPr>
        <p:spPr>
          <a:xfrm>
            <a:off x="7726680" y="4562856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Workload distribution remains uneven among agents.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98080" y="5047488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7" name="Text 24"/>
          <p:cNvSpPr/>
          <p:nvPr/>
        </p:nvSpPr>
        <p:spPr>
          <a:xfrm>
            <a:off x="7726680" y="494690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Capacity metrics support future staffing decisions.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498080" y="5587619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altLang="en-US" sz="1200" dirty="0"/>
              <a:t>Business Interpretation: Capacity utilization of 8.33% suggests that NorthBridge may have excess operational capacity or an imbalance in workload allocation across agents.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ANALYTICS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Workload &amp; Capacity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1091672" cy="4434840"/>
          </a:xfrm>
          <a:prstGeom prst="roundRect">
            <a:avLst>
              <a:gd name="adj" fmla="val 1649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D5DA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&amp;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Data Science &amp; Predictive Analytics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C7CF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 Science team is developing predictive models to support proactive operational management.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41F45"/>
          </a:solidFill>
          <a:ln w="12700">
            <a:solidFill>
              <a:srgbClr val="3E9A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9718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7" name="Image 0" descr="/home/claude/build/icons/chartb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033" y="307421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97764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Breach Prediction – 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tickets likely to breach SLA 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Complete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29000" y="26060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41F45"/>
          </a:solidFill>
          <a:ln w="12700">
            <a:solidFill>
              <a:srgbClr val="3E9AB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20540" y="29718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1" name="Image 1" descr="/home/claude/build/icons/lay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953" y="307421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97764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Demand Forecasting – Forecast future ticket demand 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Complete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0" y="26060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41F45"/>
          </a:solidFill>
          <a:ln w="12700">
            <a:solidFill>
              <a:srgbClr val="3E9AB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09460" y="29718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5" name="Image 2" descr="/home/claude/build/icons/warnin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1873" y="3074213"/>
            <a:ext cx="526694" cy="526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397764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Backlog Forecasting – Forecast future backlog growth 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Complete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006840" y="260604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141F45"/>
          </a:solidFill>
          <a:ln w="12700">
            <a:solidFill>
              <a:srgbClr val="3E9AB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898380" y="2971800"/>
            <a:ext cx="731520" cy="7315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9" name="Image 3" descr="/home/claude/build/icons/team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0793" y="3074213"/>
            <a:ext cx="526694" cy="526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397764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Triage – Predict ticket category &amp; priority </a:t>
            </a:r>
          </a:p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 Partial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900" dirty="0"/>
          </a:p>
        </p:txBody>
      </p:sp>
      <p:sp>
        <p:nvSpPr>
          <p:cNvPr id="23" name="Text 24"/>
          <p:cNvSpPr/>
          <p:nvPr/>
        </p:nvSpPr>
        <p:spPr>
          <a:xfrm>
            <a:off x="640080" y="5535114"/>
            <a:ext cx="10881360" cy="774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altLang="en-US" sz="14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 Science workstream enables </a:t>
            </a:r>
            <a:r>
              <a:rPr lang="en-US" altLang="en-US" sz="1400" dirty="0" err="1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</a:t>
            </a:r>
            <a:r>
              <a:rPr lang="en-US" altLang="en-US" sz="14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to transition from reactive operational reporting to proactive decision-making by introducing predictive analytics capabilities across ticket management, SLA monitoring, and workload planning.</a:t>
            </a:r>
            <a:endParaRPr lang="en-US" sz="1400" dirty="0">
              <a:solidFill>
                <a:srgbClr val="E4E8F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41F45"/>
          </a:solidFill>
        </p:spPr>
      </p:sp>
      <p:sp>
        <p:nvSpPr>
          <p:cNvPr id="4" name="Text 2"/>
          <p:cNvSpPr/>
          <p:nvPr/>
        </p:nvSpPr>
        <p:spPr>
          <a:xfrm>
            <a:off x="600891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GB" altLang="en-US" sz="3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GB" altLang="en-US" sz="9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</p:txBody>
      </p:sp>
      <p:sp>
        <p:nvSpPr>
          <p:cNvPr id="23" name="Text 24"/>
          <p:cNvSpPr/>
          <p:nvPr/>
        </p:nvSpPr>
        <p:spPr>
          <a:xfrm>
            <a:off x="5738582" y="5319089"/>
            <a:ext cx="4433396" cy="7677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altLang="en-US" sz="12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Interpretation: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altLang="en-US" sz="12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provides an early warning mechanism, allowing operational teams to intervene before contractual service breaches occur.</a:t>
            </a:r>
            <a:endParaRPr lang="en-US" sz="1200" dirty="0">
              <a:solidFill>
                <a:srgbClr val="E4E8F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DATA SCIENCE &amp; FORECASTING</a:t>
            </a:r>
            <a:endParaRPr lang="en-US" sz="1200" dirty="0"/>
          </a:p>
        </p:txBody>
      </p:sp>
      <p:sp>
        <p:nvSpPr>
          <p:cNvPr id="34" name="Text 1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alt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SLA Breach Prediction</a:t>
            </a:r>
          </a:p>
        </p:txBody>
      </p:sp>
      <p:sp>
        <p:nvSpPr>
          <p:cNvPr id="35" name="Text 6"/>
          <p:cNvSpPr/>
          <p:nvPr/>
        </p:nvSpPr>
        <p:spPr>
          <a:xfrm>
            <a:off x="1025812" y="1609937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6" name="Shape 7"/>
          <p:cNvSpPr/>
          <p:nvPr/>
        </p:nvSpPr>
        <p:spPr>
          <a:xfrm>
            <a:off x="1025812" y="2112857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37" name="Shape 8"/>
          <p:cNvSpPr/>
          <p:nvPr/>
        </p:nvSpPr>
        <p:spPr>
          <a:xfrm>
            <a:off x="1025812" y="2112857"/>
            <a:ext cx="64008" cy="82296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38" name="Text 9"/>
          <p:cNvSpPr/>
          <p:nvPr/>
        </p:nvSpPr>
        <p:spPr>
          <a:xfrm>
            <a:off x="1254412" y="2112857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 tickets predicted to breach SLA.</a:t>
            </a:r>
            <a:endParaRPr lang="en-US" sz="1200" dirty="0"/>
          </a:p>
        </p:txBody>
      </p:sp>
      <p:sp>
        <p:nvSpPr>
          <p:cNvPr id="39" name="Shape 10"/>
          <p:cNvSpPr/>
          <p:nvPr/>
        </p:nvSpPr>
        <p:spPr>
          <a:xfrm>
            <a:off x="1025812" y="3118697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0" name="Shape 11"/>
          <p:cNvSpPr/>
          <p:nvPr/>
        </p:nvSpPr>
        <p:spPr>
          <a:xfrm>
            <a:off x="1025812" y="3118697"/>
            <a:ext cx="64008" cy="82296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41" name="Text 12"/>
          <p:cNvSpPr/>
          <p:nvPr/>
        </p:nvSpPr>
        <p:spPr>
          <a:xfrm>
            <a:off x="1254412" y="3118697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High-Risk tickets identified.</a:t>
            </a:r>
            <a:endParaRPr lang="en-US" sz="1200" dirty="0"/>
          </a:p>
        </p:txBody>
      </p:sp>
      <p:sp>
        <p:nvSpPr>
          <p:cNvPr id="42" name="Shape 13"/>
          <p:cNvSpPr/>
          <p:nvPr/>
        </p:nvSpPr>
        <p:spPr>
          <a:xfrm>
            <a:off x="1025812" y="4124537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3" name="Shape 14"/>
          <p:cNvSpPr/>
          <p:nvPr/>
        </p:nvSpPr>
        <p:spPr>
          <a:xfrm>
            <a:off x="1025812" y="4124537"/>
            <a:ext cx="64008" cy="82296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44" name="Text 15"/>
          <p:cNvSpPr/>
          <p:nvPr/>
        </p:nvSpPr>
        <p:spPr>
          <a:xfrm>
            <a:off x="1254412" y="4124537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breach probability: 33.4%.</a:t>
            </a:r>
            <a:endParaRPr lang="en-US" sz="1200" dirty="0"/>
          </a:p>
        </p:txBody>
      </p:sp>
      <p:sp>
        <p:nvSpPr>
          <p:cNvPr id="45" name="Shape 16"/>
          <p:cNvSpPr/>
          <p:nvPr/>
        </p:nvSpPr>
        <p:spPr>
          <a:xfrm>
            <a:off x="1025812" y="5130377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6" name="Shape 17"/>
          <p:cNvSpPr/>
          <p:nvPr/>
        </p:nvSpPr>
        <p:spPr>
          <a:xfrm>
            <a:off x="1025812" y="5130377"/>
            <a:ext cx="64008" cy="82296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47" name="Text 18"/>
          <p:cNvSpPr/>
          <p:nvPr/>
        </p:nvSpPr>
        <p:spPr>
          <a:xfrm>
            <a:off x="1254412" y="5130377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SLA Risk is the largest driver of escalations.</a:t>
            </a:r>
            <a:endParaRPr lang="en-US" sz="1200" dirty="0"/>
          </a:p>
        </p:txBody>
      </p:sp>
      <p:sp>
        <p:nvSpPr>
          <p:cNvPr id="48" name="Shape 7"/>
          <p:cNvSpPr/>
          <p:nvPr/>
        </p:nvSpPr>
        <p:spPr>
          <a:xfrm>
            <a:off x="5737311" y="2052725"/>
            <a:ext cx="4894981" cy="3052117"/>
          </a:xfrm>
          <a:prstGeom prst="roundRect">
            <a:avLst>
              <a:gd name="adj" fmla="val 8889"/>
            </a:avLst>
          </a:prstGeom>
          <a:solidFill>
            <a:schemeClr val="accent1">
              <a:lumMod val="75000"/>
            </a:schemeClr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7" name="Text 18"/>
          <p:cNvSpPr/>
          <p:nvPr/>
        </p:nvSpPr>
        <p:spPr>
          <a:xfrm>
            <a:off x="6077323" y="2337019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9" name="Text 20"/>
          <p:cNvSpPr/>
          <p:nvPr/>
        </p:nvSpPr>
        <p:spPr>
          <a:xfrm>
            <a:off x="6141509" y="2972169"/>
            <a:ext cx="4178025" cy="4825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selected as the production model after comparison with Logistic Regression, </a:t>
            </a:r>
            <a:r>
              <a:rPr lang="en-US" sz="1100" dirty="0" err="1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</a:t>
            </a:r>
            <a:r>
              <a:rPr lang="en-US" sz="11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and </a:t>
            </a:r>
            <a:r>
              <a:rPr lang="en-US" sz="1100" dirty="0" err="1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LightGBM</a:t>
            </a:r>
            <a:r>
              <a:rPr lang="en-US" sz="11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00" dirty="0"/>
          </a:p>
        </p:txBody>
      </p:sp>
      <p:sp>
        <p:nvSpPr>
          <p:cNvPr id="22" name="Text 24"/>
          <p:cNvSpPr/>
          <p:nvPr/>
        </p:nvSpPr>
        <p:spPr>
          <a:xfrm>
            <a:off x="6141510" y="3632587"/>
            <a:ext cx="4086585" cy="52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Flow: New Ticket → Risk Score Generated → Low / Medium / High → Operational Intervention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912910" y="3733171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8" name="Shape 19"/>
          <p:cNvSpPr/>
          <p:nvPr/>
        </p:nvSpPr>
        <p:spPr>
          <a:xfrm>
            <a:off x="6622403" y="3120105"/>
            <a:ext cx="91440" cy="91440"/>
          </a:xfrm>
          <a:prstGeom prst="ellipse">
            <a:avLst/>
          </a:prstGeom>
          <a:solidFill>
            <a:srgbClr val="1C7293"/>
          </a:solid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&amp;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Demand &amp; Backlog Forecasting</a:t>
            </a:r>
            <a:endParaRPr lang="en-US" sz="3400" dirty="0"/>
          </a:p>
        </p:txBody>
      </p:sp>
      <p:sp>
        <p:nvSpPr>
          <p:cNvPr id="29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GB" altLang="en-US" sz="900" dirty="0">
              <a:solidFill>
                <a:srgbClr val="8892A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7498080" y="150876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35" name="Text 7"/>
          <p:cNvSpPr/>
          <p:nvPr/>
        </p:nvSpPr>
        <p:spPr>
          <a:xfrm>
            <a:off x="7498080" y="161848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 weeks</a:t>
            </a:r>
            <a:endParaRPr lang="en-US" sz="1900" dirty="0"/>
          </a:p>
        </p:txBody>
      </p:sp>
      <p:sp>
        <p:nvSpPr>
          <p:cNvPr id="36" name="Text 8"/>
          <p:cNvSpPr/>
          <p:nvPr/>
        </p:nvSpPr>
        <p:spPr>
          <a:xfrm>
            <a:off x="7589520" y="2075688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 Horizon</a:t>
            </a:r>
            <a:endParaRPr lang="en-US" sz="1000" dirty="0"/>
          </a:p>
        </p:txBody>
      </p:sp>
      <p:sp>
        <p:nvSpPr>
          <p:cNvPr id="37" name="Shape 9"/>
          <p:cNvSpPr/>
          <p:nvPr/>
        </p:nvSpPr>
        <p:spPr>
          <a:xfrm>
            <a:off x="10094976" y="150876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38" name="Text 10"/>
          <p:cNvSpPr/>
          <p:nvPr/>
        </p:nvSpPr>
        <p:spPr>
          <a:xfrm>
            <a:off x="10094976" y="1618488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32</a:t>
            </a:r>
            <a:endParaRPr lang="en-US" sz="1900" dirty="0"/>
          </a:p>
        </p:txBody>
      </p:sp>
      <p:sp>
        <p:nvSpPr>
          <p:cNvPr id="39" name="Text 11"/>
          <p:cNvSpPr/>
          <p:nvPr/>
        </p:nvSpPr>
        <p:spPr>
          <a:xfrm>
            <a:off x="10186416" y="2075688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Forecasted Ticket Volume</a:t>
            </a:r>
            <a:endParaRPr lang="en-US" sz="1000" dirty="0"/>
          </a:p>
        </p:txBody>
      </p:sp>
      <p:sp>
        <p:nvSpPr>
          <p:cNvPr id="40" name="Shape 12"/>
          <p:cNvSpPr/>
          <p:nvPr/>
        </p:nvSpPr>
        <p:spPr>
          <a:xfrm>
            <a:off x="7498080" y="2670048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1" name="Text 13"/>
          <p:cNvSpPr/>
          <p:nvPr/>
        </p:nvSpPr>
        <p:spPr>
          <a:xfrm>
            <a:off x="7498080" y="2779776"/>
            <a:ext cx="239572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92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900" dirty="0"/>
          </a:p>
        </p:txBody>
      </p:sp>
      <p:sp>
        <p:nvSpPr>
          <p:cNvPr id="42" name="Text 14"/>
          <p:cNvSpPr/>
          <p:nvPr/>
        </p:nvSpPr>
        <p:spPr>
          <a:xfrm>
            <a:off x="7589520" y="3236976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Forecasted Backlog</a:t>
            </a:r>
            <a:endParaRPr lang="en-US" sz="1000" dirty="0"/>
          </a:p>
        </p:txBody>
      </p:sp>
      <p:sp>
        <p:nvSpPr>
          <p:cNvPr id="46" name="Text 18"/>
          <p:cNvSpPr/>
          <p:nvPr/>
        </p:nvSpPr>
        <p:spPr>
          <a:xfrm>
            <a:off x="7498080" y="387705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47" name="Shape 19"/>
          <p:cNvSpPr/>
          <p:nvPr/>
        </p:nvSpPr>
        <p:spPr>
          <a:xfrm>
            <a:off x="7498080" y="4279392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48" name="Text 20"/>
          <p:cNvSpPr/>
          <p:nvPr/>
        </p:nvSpPr>
        <p:spPr>
          <a:xfrm>
            <a:off x="7726680" y="417880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Historical demand patterns indicate stable short-term ticket volumes.</a:t>
            </a:r>
            <a:endParaRPr lang="en-US" sz="1100" dirty="0"/>
          </a:p>
        </p:txBody>
      </p:sp>
      <p:sp>
        <p:nvSpPr>
          <p:cNvPr id="49" name="Shape 21"/>
          <p:cNvSpPr/>
          <p:nvPr/>
        </p:nvSpPr>
        <p:spPr>
          <a:xfrm>
            <a:off x="7498080" y="4663440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0" name="Text 22"/>
          <p:cNvSpPr/>
          <p:nvPr/>
        </p:nvSpPr>
        <p:spPr>
          <a:xfrm>
            <a:off x="7726680" y="4562856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Short-term forecasts provide support for resource planning.</a:t>
            </a:r>
            <a:endParaRPr lang="en-US" sz="1100" dirty="0"/>
          </a:p>
        </p:txBody>
      </p:sp>
      <p:sp>
        <p:nvSpPr>
          <p:cNvPr id="51" name="Shape 23"/>
          <p:cNvSpPr/>
          <p:nvPr/>
        </p:nvSpPr>
        <p:spPr>
          <a:xfrm>
            <a:off x="7498080" y="5047488"/>
            <a:ext cx="91440" cy="9144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2" name="Text 24"/>
          <p:cNvSpPr/>
          <p:nvPr/>
        </p:nvSpPr>
        <p:spPr>
          <a:xfrm>
            <a:off x="7726680" y="494690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Forecasting reliability is currently validated only for a 1–2 week horizon.</a:t>
            </a:r>
            <a:endParaRPr lang="en-US" sz="1100" dirty="0"/>
          </a:p>
        </p:txBody>
      </p:sp>
      <p:sp>
        <p:nvSpPr>
          <p:cNvPr id="53" name="Text 24"/>
          <p:cNvSpPr/>
          <p:nvPr/>
        </p:nvSpPr>
        <p:spPr>
          <a:xfrm>
            <a:off x="7498080" y="5482463"/>
            <a:ext cx="4548608" cy="493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altLang="en-US" sz="1200" dirty="0"/>
              <a:t>Business Interpretation: Forecasting enables operational managers to anticipate upcoming workload and allocate resources proactively rather than responding after demand peaks occur.</a:t>
            </a:r>
          </a:p>
        </p:txBody>
      </p:sp>
      <p:sp>
        <p:nvSpPr>
          <p:cNvPr id="54" name="Shape 2"/>
          <p:cNvSpPr/>
          <p:nvPr/>
        </p:nvSpPr>
        <p:spPr>
          <a:xfrm>
            <a:off x="398967" y="1540764"/>
            <a:ext cx="6897945" cy="4434840"/>
          </a:xfrm>
          <a:prstGeom prst="roundRect">
            <a:avLst>
              <a:gd name="adj" fmla="val 1649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3E9AB4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&amp;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Demand &amp; Backlog Forecasting</a:t>
            </a:r>
            <a:endParaRPr lang="en-US" sz="3400" dirty="0"/>
          </a:p>
        </p:txBody>
      </p:sp>
      <p:sp>
        <p:nvSpPr>
          <p:cNvPr id="29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GB" altLang="en-US" sz="900" dirty="0">
              <a:solidFill>
                <a:srgbClr val="8892A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398967" y="1540764"/>
            <a:ext cx="11332785" cy="4434840"/>
          </a:xfrm>
          <a:prstGeom prst="roundRect">
            <a:avLst>
              <a:gd name="adj" fmla="val 1649"/>
            </a:avLst>
          </a:prstGeom>
          <a:blipFill rotWithShape="1">
            <a:blip r:embed="rId3"/>
            <a:stretch>
              <a:fillRect/>
            </a:stretch>
          </a:blipFill>
          <a:ln w="12700">
            <a:solidFill>
              <a:srgbClr val="3E9AB4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78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DATA SCIENCE &amp; FORECASTING</a:t>
            </a:r>
          </a:p>
        </p:txBody>
      </p:sp>
      <p:sp>
        <p:nvSpPr>
          <p:cNvPr id="81" name="Text 80"/>
          <p:cNvSpPr/>
          <p:nvPr/>
        </p:nvSpPr>
        <p:spPr>
          <a:xfrm>
            <a:off x="640080" y="73152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5C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Forecast Interpretation – Business Actions</a:t>
            </a:r>
          </a:p>
        </p:txBody>
      </p:sp>
      <p:sp>
        <p:nvSpPr>
          <p:cNvPr id="3" name="Shape 2"/>
          <p:cNvSpPr/>
          <p:nvPr/>
        </p:nvSpPr>
        <p:spPr>
          <a:xfrm>
            <a:off x="640080" y="1450000"/>
            <a:ext cx="5318760" cy="18303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4"/>
          <p:cNvSpPr/>
          <p:nvPr/>
        </p:nvSpPr>
        <p:spPr>
          <a:xfrm>
            <a:off x="640080" y="1450000"/>
            <a:ext cx="45720" cy="1830324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7" name="Shape 6"/>
          <p:cNvSpPr/>
          <p:nvPr/>
        </p:nvSpPr>
        <p:spPr>
          <a:xfrm>
            <a:off x="960120" y="167860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9" name="Icon 8"/>
          <p:cNvPicPr/>
          <p:nvPr/>
        </p:nvPicPr>
        <p:blipFill>
          <a:blip r:embed="rId2"/>
          <a:stretch>
            <a:fillRect/>
          </a:stretch>
        </p:blipFill>
        <p:spPr>
          <a:xfrm>
            <a:off x="1046531" y="1765011"/>
            <a:ext cx="238658" cy="238658"/>
          </a:xfrm>
          <a:prstGeom prst="rect">
            <a:avLst/>
          </a:prstGeom>
        </p:spPr>
      </p:pic>
      <p:sp>
        <p:nvSpPr>
          <p:cNvPr id="11" name="Text 10"/>
          <p:cNvSpPr/>
          <p:nvPr/>
        </p:nvSpPr>
        <p:spPr>
          <a:xfrm>
            <a:off x="1531620" y="1678600"/>
            <a:ext cx="41529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DEMAND FORECAST</a:t>
            </a:r>
          </a:p>
        </p:txBody>
      </p:sp>
      <p:sp>
        <p:nvSpPr>
          <p:cNvPr id="13" name="Shape 12"/>
          <p:cNvSpPr/>
          <p:nvPr/>
        </p:nvSpPr>
        <p:spPr>
          <a:xfrm>
            <a:off x="960120" y="2227240"/>
            <a:ext cx="4724400" cy="9525"/>
          </a:xfrm>
          <a:prstGeom prst="rect">
            <a:avLst/>
          </a:prstGeom>
          <a:solidFill>
            <a:srgbClr val="E9ECF4"/>
          </a:solidFill>
        </p:spPr>
      </p:sp>
      <p:sp>
        <p:nvSpPr>
          <p:cNvPr id="15" name="Shape 14"/>
          <p:cNvSpPr/>
          <p:nvPr/>
        </p:nvSpPr>
        <p:spPr>
          <a:xfrm>
            <a:off x="960120" y="2442378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17" name="Text 16"/>
          <p:cNvSpPr/>
          <p:nvPr/>
        </p:nvSpPr>
        <p:spPr>
          <a:xfrm>
            <a:off x="1143000" y="2387260"/>
            <a:ext cx="454152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Short-term forecasts point to relatively stable demand over the next two weeks.</a:t>
            </a:r>
          </a:p>
        </p:txBody>
      </p:sp>
      <p:sp>
        <p:nvSpPr>
          <p:cNvPr id="19" name="Shape 18"/>
          <p:cNvSpPr/>
          <p:nvPr/>
        </p:nvSpPr>
        <p:spPr>
          <a:xfrm>
            <a:off x="960120" y="2928026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21" name="Text 20"/>
          <p:cNvSpPr/>
          <p:nvPr/>
        </p:nvSpPr>
        <p:spPr>
          <a:xfrm>
            <a:off x="1143000" y="2872908"/>
            <a:ext cx="4541520" cy="178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Forecasts support proactive workforce planning.</a:t>
            </a:r>
          </a:p>
        </p:txBody>
      </p:sp>
      <p:sp>
        <p:nvSpPr>
          <p:cNvPr id="23" name="Shape 22"/>
          <p:cNvSpPr/>
          <p:nvPr/>
        </p:nvSpPr>
        <p:spPr>
          <a:xfrm>
            <a:off x="6233160" y="1450000"/>
            <a:ext cx="5318760" cy="20091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5" name="Shape 24"/>
          <p:cNvSpPr/>
          <p:nvPr/>
        </p:nvSpPr>
        <p:spPr>
          <a:xfrm>
            <a:off x="6233160" y="1450000"/>
            <a:ext cx="45720" cy="200914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27" name="Shape 26"/>
          <p:cNvSpPr/>
          <p:nvPr/>
        </p:nvSpPr>
        <p:spPr>
          <a:xfrm>
            <a:off x="6553200" y="167860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29" name="Icon 28"/>
          <p:cNvPicPr/>
          <p:nvPr/>
        </p:nvPicPr>
        <p:blipFill>
          <a:blip r:embed="rId3"/>
          <a:stretch>
            <a:fillRect/>
          </a:stretch>
        </p:blipFill>
        <p:spPr>
          <a:xfrm>
            <a:off x="6639611" y="1765011"/>
            <a:ext cx="238658" cy="238658"/>
          </a:xfrm>
          <a:prstGeom prst="rect">
            <a:avLst/>
          </a:prstGeom>
        </p:spPr>
      </p:pic>
      <p:sp>
        <p:nvSpPr>
          <p:cNvPr id="31" name="Text 30"/>
          <p:cNvSpPr/>
          <p:nvPr/>
        </p:nvSpPr>
        <p:spPr>
          <a:xfrm>
            <a:off x="7124700" y="1678600"/>
            <a:ext cx="41529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MODEL LIMITATIONS</a:t>
            </a:r>
          </a:p>
        </p:txBody>
      </p:sp>
      <p:sp>
        <p:nvSpPr>
          <p:cNvPr id="33" name="Shape 32"/>
          <p:cNvSpPr/>
          <p:nvPr/>
        </p:nvSpPr>
        <p:spPr>
          <a:xfrm>
            <a:off x="6553200" y="2227240"/>
            <a:ext cx="4724400" cy="9525"/>
          </a:xfrm>
          <a:prstGeom prst="rect">
            <a:avLst/>
          </a:prstGeom>
          <a:solidFill>
            <a:srgbClr val="E9ECF4"/>
          </a:solidFill>
        </p:spPr>
      </p:sp>
      <p:sp>
        <p:nvSpPr>
          <p:cNvPr id="35" name="Shape 34"/>
          <p:cNvSpPr/>
          <p:nvPr/>
        </p:nvSpPr>
        <p:spPr>
          <a:xfrm>
            <a:off x="6553200" y="2442378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37" name="Text 36"/>
          <p:cNvSpPr/>
          <p:nvPr/>
        </p:nvSpPr>
        <p:spPr>
          <a:xfrm>
            <a:off x="6736080" y="2387260"/>
            <a:ext cx="454152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Forecasting is currently reliable only to a two-week horizon, limited by available history.</a:t>
            </a:r>
          </a:p>
        </p:txBody>
      </p:sp>
      <p:sp>
        <p:nvSpPr>
          <p:cNvPr id="39" name="Shape 38"/>
          <p:cNvSpPr/>
          <p:nvPr/>
        </p:nvSpPr>
        <p:spPr>
          <a:xfrm>
            <a:off x="6553200" y="2928026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41" name="Text 40"/>
          <p:cNvSpPr/>
          <p:nvPr/>
        </p:nvSpPr>
        <p:spPr>
          <a:xfrm>
            <a:off x="6736080" y="2872908"/>
            <a:ext cx="4541520" cy="357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Planned upgrades: confidence intervals, longer horizons, accuracy validation.</a:t>
            </a:r>
          </a:p>
        </p:txBody>
      </p:sp>
      <p:sp>
        <p:nvSpPr>
          <p:cNvPr id="43" name="Shape 42"/>
          <p:cNvSpPr/>
          <p:nvPr/>
        </p:nvSpPr>
        <p:spPr>
          <a:xfrm>
            <a:off x="640080" y="3596300"/>
            <a:ext cx="10911840" cy="2766548"/>
          </a:xfrm>
          <a:prstGeom prst="roundRect">
            <a:avLst>
              <a:gd name="adj" fmla="val 4000"/>
            </a:avLst>
          </a:prstGeom>
          <a:solidFill>
            <a:srgbClr val="FCEFE1"/>
          </a:solidFill>
          <a:ln w="12700">
            <a:solidFill>
              <a:srgbClr val="E8924A"/>
            </a:solidFill>
          </a:ln>
          <a:effectLst>
            <a:outerShdw blurRad="508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45" name="Text 44"/>
          <p:cNvSpPr/>
          <p:nvPr/>
        </p:nvSpPr>
        <p:spPr>
          <a:xfrm>
            <a:off x="868680" y="3824900"/>
            <a:ext cx="2390241" cy="7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924A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48</a:t>
            </a:r>
          </a:p>
        </p:txBody>
      </p:sp>
      <p:sp>
        <p:nvSpPr>
          <p:cNvPr id="47" name="Text 46"/>
          <p:cNvSpPr/>
          <p:nvPr/>
        </p:nvSpPr>
        <p:spPr>
          <a:xfrm>
            <a:off x="868680" y="4524900"/>
            <a:ext cx="2390241" cy="8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TICKETS
PREDICTED TO BREACH SLA</a:t>
            </a:r>
          </a:p>
        </p:txBody>
      </p:sp>
      <p:sp>
        <p:nvSpPr>
          <p:cNvPr id="49" name="Shape 48"/>
          <p:cNvSpPr/>
          <p:nvPr/>
        </p:nvSpPr>
        <p:spPr>
          <a:xfrm>
            <a:off x="3258921" y="3824900"/>
            <a:ext cx="12700" cy="2309348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51" name="Shape 50"/>
          <p:cNvSpPr/>
          <p:nvPr/>
        </p:nvSpPr>
        <p:spPr>
          <a:xfrm>
            <a:off x="3487521" y="3824900"/>
            <a:ext cx="411480" cy="411480"/>
          </a:xfrm>
          <a:prstGeom prst="ellipse">
            <a:avLst/>
          </a:prstGeom>
          <a:solidFill>
            <a:srgbClr val="E8924A"/>
          </a:solidFill>
        </p:spPr>
      </p:sp>
      <p:pic>
        <p:nvPicPr>
          <p:cNvPr id="53" name="Icon 52"/>
          <p:cNvPicPr/>
          <p:nvPr/>
        </p:nvPicPr>
        <p:blipFill>
          <a:blip r:embed="rId4"/>
          <a:stretch>
            <a:fillRect/>
          </a:stretch>
        </p:blipFill>
        <p:spPr>
          <a:xfrm>
            <a:off x="3573932" y="3911311"/>
            <a:ext cx="238658" cy="238658"/>
          </a:xfrm>
          <a:prstGeom prst="rect">
            <a:avLst/>
          </a:prstGeom>
        </p:spPr>
      </p:pic>
      <p:sp>
        <p:nvSpPr>
          <p:cNvPr id="55" name="Text 54"/>
          <p:cNvSpPr/>
          <p:nvPr/>
        </p:nvSpPr>
        <p:spPr>
          <a:xfrm>
            <a:off x="4059021" y="3824900"/>
            <a:ext cx="7264299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RECOMMENDED ACTIONS — 48 PREDICTED SLA BREACH TICKETS</a:t>
            </a:r>
          </a:p>
        </p:txBody>
      </p:sp>
      <p:sp>
        <p:nvSpPr>
          <p:cNvPr id="57" name="Shape 56"/>
          <p:cNvSpPr/>
          <p:nvPr/>
        </p:nvSpPr>
        <p:spPr>
          <a:xfrm>
            <a:off x="3487521" y="4373540"/>
            <a:ext cx="7835799" cy="9525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59" name="Shape 58"/>
          <p:cNvSpPr/>
          <p:nvPr/>
        </p:nvSpPr>
        <p:spPr>
          <a:xfrm>
            <a:off x="3487521" y="4588678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61" name="Text 60"/>
          <p:cNvSpPr/>
          <p:nvPr/>
        </p:nvSpPr>
        <p:spPr>
          <a:xfrm>
            <a:off x="3670401" y="4533560"/>
            <a:ext cx="7652919" cy="178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Review all predicted breach tickets and validate before acting.</a:t>
            </a:r>
          </a:p>
        </p:txBody>
      </p:sp>
      <p:sp>
        <p:nvSpPr>
          <p:cNvPr id="63" name="Shape 62"/>
          <p:cNvSpPr/>
          <p:nvPr/>
        </p:nvSpPr>
        <p:spPr>
          <a:xfrm>
            <a:off x="3487521" y="4895510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65" name="Text 64"/>
          <p:cNvSpPr/>
          <p:nvPr/>
        </p:nvSpPr>
        <p:spPr>
          <a:xfrm>
            <a:off x="3670401" y="4840392"/>
            <a:ext cx="7652919" cy="178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Prioritise High-Risk tickets for immediate attention.</a:t>
            </a:r>
          </a:p>
        </p:txBody>
      </p:sp>
      <p:sp>
        <p:nvSpPr>
          <p:cNvPr id="67" name="Shape 66"/>
          <p:cNvSpPr/>
          <p:nvPr/>
        </p:nvSpPr>
        <p:spPr>
          <a:xfrm>
            <a:off x="3487521" y="5202342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69" name="Text 68"/>
          <p:cNvSpPr/>
          <p:nvPr/>
        </p:nvSpPr>
        <p:spPr>
          <a:xfrm>
            <a:off x="3670401" y="5147224"/>
            <a:ext cx="7652919" cy="178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Confirm predicted ticket categories before rerouting work.</a:t>
            </a:r>
          </a:p>
        </p:txBody>
      </p:sp>
      <p:sp>
        <p:nvSpPr>
          <p:cNvPr id="71" name="Shape 70"/>
          <p:cNvSpPr/>
          <p:nvPr/>
        </p:nvSpPr>
        <p:spPr>
          <a:xfrm>
            <a:off x="3487521" y="5509174"/>
            <a:ext cx="68580" cy="68580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73" name="Text 72"/>
          <p:cNvSpPr/>
          <p:nvPr/>
        </p:nvSpPr>
        <p:spPr>
          <a:xfrm>
            <a:off x="3670401" y="5454056"/>
            <a:ext cx="7652919" cy="178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1B2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Escalate tickets approaching their SLA deadline ahead of breach.</a:t>
            </a:r>
          </a:p>
        </p:txBody>
      </p:sp>
      <p:sp>
        <p:nvSpPr>
          <p:cNvPr id="75" name="Shape 74"/>
          <p:cNvSpPr/>
          <p:nvPr/>
        </p:nvSpPr>
        <p:spPr>
          <a:xfrm>
            <a:off x="3487521" y="5782872"/>
            <a:ext cx="7835799" cy="9525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77" name="Text 76"/>
          <p:cNvSpPr/>
          <p:nvPr/>
        </p:nvSpPr>
        <p:spPr>
          <a:xfrm>
            <a:off x="3487521" y="5910888"/>
            <a:ext cx="7835799" cy="501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b="1" i="1" dirty="0">
                <a:solidFill>
                  <a:srgbClr val="E892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These actions enable NorthBridge to intervene before SLA breaches occur, reducing contractual risk, improving customer service performance, and supporting proactive operational decision-making.</a:t>
            </a:r>
          </a:p>
        </p:txBody>
      </p:sp>
      <p:sp>
        <p:nvSpPr>
          <p:cNvPr id="83" name="Text 8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NorthBridge Health Services Ltd  |  Customer Service Ticket &amp; SLA Optimisation System</a:t>
            </a:r>
          </a:p>
        </p:txBody>
      </p:sp>
      <p:sp>
        <p:nvSpPr>
          <p:cNvPr id="85" name="Text 8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SCIENCE &amp;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Ticket Triage &amp; Model Limitations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40079" y="1874520"/>
            <a:ext cx="4738931" cy="17333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D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8653" y="2128637"/>
            <a:ext cx="3951059" cy="125379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Triage Results: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prediction achieved meaningful performance improvements.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prediction remains unreliable.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predictions are suitable as operational recommendations.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03719" y="1874520"/>
            <a:ext cx="4738931" cy="1733320"/>
          </a:xfrm>
          <a:prstGeom prst="roundRect">
            <a:avLst>
              <a:gd name="adj" fmla="val 9722"/>
            </a:avLst>
          </a:prstGeom>
          <a:solidFill>
            <a:srgbClr val="1B2A5C"/>
          </a:solidFill>
        </p:spPr>
      </p:sp>
      <p:sp>
        <p:nvSpPr>
          <p:cNvPr id="12" name="Text 10"/>
          <p:cNvSpPr/>
          <p:nvPr/>
        </p:nvSpPr>
        <p:spPr>
          <a:xfrm>
            <a:off x="7273467" y="1961070"/>
            <a:ext cx="3192426" cy="13536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Enhancements:</a:t>
            </a:r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Intervals</a:t>
            </a:r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MAPE Validation</a:t>
            </a:r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Hindcasting</a:t>
            </a:r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Fairness Review</a:t>
            </a:r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Text Integration</a:t>
            </a:r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Extended Forecast Horizons</a:t>
            </a:r>
          </a:p>
        </p:txBody>
      </p:sp>
      <p:sp>
        <p:nvSpPr>
          <p:cNvPr id="13" name="Shape 11"/>
          <p:cNvSpPr/>
          <p:nvPr/>
        </p:nvSpPr>
        <p:spPr>
          <a:xfrm>
            <a:off x="565651" y="4022510"/>
            <a:ext cx="4813359" cy="100669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D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8532" y="4022510"/>
            <a:ext cx="3515124" cy="9003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Reliable: 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Category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Recommended: Predicted Priority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29291" y="4022510"/>
            <a:ext cx="4738931" cy="1733320"/>
          </a:xfrm>
          <a:prstGeom prst="roundRect">
            <a:avLst>
              <a:gd name="adj" fmla="val 9722"/>
            </a:avLst>
          </a:prstGeom>
          <a:solidFill>
            <a:srgbClr val="1B2A5C"/>
          </a:solidFill>
        </p:spPr>
      </p:sp>
      <p:sp>
        <p:nvSpPr>
          <p:cNvPr id="17" name="Text 15"/>
          <p:cNvSpPr/>
          <p:nvPr/>
        </p:nvSpPr>
        <p:spPr>
          <a:xfrm>
            <a:off x="7142819" y="4170516"/>
            <a:ext cx="4300649" cy="12839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Bottom Statement:</a:t>
            </a:r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inclusion of ticket text data is expected to significantly improve prediction accuracy and represents the highest-value enhancement opportunity identified by the Data Science team.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GB" altLang="en-US" sz="900" dirty="0">
              <a:solidFill>
                <a:srgbClr val="8892A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141F45"/>
          </a:solidFill>
        </p:spPr>
      </p:sp>
      <p:sp>
        <p:nvSpPr>
          <p:cNvPr id="5" name="Shape 3"/>
          <p:cNvSpPr/>
          <p:nvPr/>
        </p:nvSpPr>
        <p:spPr>
          <a:xfrm>
            <a:off x="868680" y="2061972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6" name="Text 4"/>
          <p:cNvSpPr/>
          <p:nvPr/>
        </p:nvSpPr>
        <p:spPr>
          <a:xfrm>
            <a:off x="868680" y="20619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automated SLA alerts for at-risk tickets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141F45"/>
          </a:solidFill>
        </p:spPr>
      </p:sp>
      <p:sp>
        <p:nvSpPr>
          <p:cNvPr id="9" name="Shape 7"/>
          <p:cNvSpPr/>
          <p:nvPr/>
        </p:nvSpPr>
        <p:spPr>
          <a:xfrm>
            <a:off x="6446520" y="2061972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10" name="Text 8"/>
          <p:cNvSpPr/>
          <p:nvPr/>
        </p:nvSpPr>
        <p:spPr>
          <a:xfrm>
            <a:off x="6446520" y="206197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1783080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 proactive escalation monitoring processes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141F45"/>
          </a:solidFill>
        </p:spPr>
      </p:sp>
      <p:sp>
        <p:nvSpPr>
          <p:cNvPr id="13" name="Shape 11"/>
          <p:cNvSpPr/>
          <p:nvPr/>
        </p:nvSpPr>
        <p:spPr>
          <a:xfrm>
            <a:off x="868680" y="3369564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14" name="Text 12"/>
          <p:cNvSpPr/>
          <p:nvPr/>
        </p:nvSpPr>
        <p:spPr>
          <a:xfrm>
            <a:off x="868680" y="33695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090672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staffing allocations across operational hubs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090672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141F45"/>
          </a:solidFill>
        </p:spPr>
      </p:sp>
      <p:sp>
        <p:nvSpPr>
          <p:cNvPr id="17" name="Shape 15"/>
          <p:cNvSpPr/>
          <p:nvPr/>
        </p:nvSpPr>
        <p:spPr>
          <a:xfrm>
            <a:off x="6446520" y="3369564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18" name="Text 16"/>
          <p:cNvSpPr/>
          <p:nvPr/>
        </p:nvSpPr>
        <p:spPr>
          <a:xfrm>
            <a:off x="6446520" y="33695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090672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 investing in forecasting capabilities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398264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141F45"/>
          </a:solidFill>
        </p:spPr>
      </p:sp>
      <p:sp>
        <p:nvSpPr>
          <p:cNvPr id="21" name="Shape 19"/>
          <p:cNvSpPr/>
          <p:nvPr/>
        </p:nvSpPr>
        <p:spPr>
          <a:xfrm>
            <a:off x="868680" y="4677156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22" name="Text 20"/>
          <p:cNvSpPr/>
          <p:nvPr/>
        </p:nvSpPr>
        <p:spPr>
          <a:xfrm>
            <a:off x="868680" y="467715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398264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backlog reduction initiatives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4398264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141F45"/>
          </a:solidFill>
        </p:spPr>
      </p:sp>
      <p:sp>
        <p:nvSpPr>
          <p:cNvPr id="25" name="Shape 23"/>
          <p:cNvSpPr/>
          <p:nvPr/>
        </p:nvSpPr>
        <p:spPr>
          <a:xfrm>
            <a:off x="6446520" y="4677156"/>
            <a:ext cx="493776" cy="493776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26" name="Text 24"/>
          <p:cNvSpPr/>
          <p:nvPr/>
        </p:nvSpPr>
        <p:spPr>
          <a:xfrm>
            <a:off x="6446520" y="467715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398264"/>
            <a:ext cx="41148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 monthly operational reporting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GB" altLang="en-US" sz="900" dirty="0">
              <a:solidFill>
                <a:srgbClr val="AEB6D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EXPECTED BUSINESS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Impact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</p:spPr>
      </p:sp>
      <p:sp>
        <p:nvSpPr>
          <p:cNvPr id="6" name="Shape 4"/>
          <p:cNvSpPr/>
          <p:nvPr/>
        </p:nvSpPr>
        <p:spPr>
          <a:xfrm>
            <a:off x="640080" y="2423160"/>
            <a:ext cx="3520440" cy="73152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" name="Shape 5"/>
          <p:cNvSpPr/>
          <p:nvPr/>
        </p:nvSpPr>
        <p:spPr>
          <a:xfrm>
            <a:off x="2080260" y="1874520"/>
            <a:ext cx="640080" cy="640080"/>
          </a:xfrm>
          <a:prstGeom prst="ellipse">
            <a:avLst/>
          </a:prstGeom>
          <a:solidFill>
            <a:srgbClr val="141F45"/>
          </a:solidFill>
        </p:spPr>
      </p:sp>
      <p:pic>
        <p:nvPicPr>
          <p:cNvPr id="8" name="Image 0" descr="/home/claude/build/icons/bolt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71" y="1964131"/>
            <a:ext cx="460858" cy="46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6517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Benefits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3611880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1" name="Text 8"/>
          <p:cNvSpPr/>
          <p:nvPr/>
        </p:nvSpPr>
        <p:spPr>
          <a:xfrm>
            <a:off x="1143000" y="349300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SLA visibility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14400" y="4233672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3" name="Text 10"/>
          <p:cNvSpPr/>
          <p:nvPr/>
        </p:nvSpPr>
        <p:spPr>
          <a:xfrm>
            <a:off x="1143000" y="41148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decision-making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14400" y="4855464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5" name="Text 12"/>
          <p:cNvSpPr/>
          <p:nvPr/>
        </p:nvSpPr>
        <p:spPr>
          <a:xfrm>
            <a:off x="1143000" y="4736592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manual reporting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14400" y="5477256"/>
            <a:ext cx="109728" cy="10972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7" name="Text 14"/>
          <p:cNvSpPr/>
          <p:nvPr/>
        </p:nvSpPr>
        <p:spPr>
          <a:xfrm>
            <a:off x="1143000" y="5358384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workload management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480560" y="169164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80560" y="16916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B2A5C"/>
          </a:solidFill>
        </p:spPr>
      </p:sp>
      <p:sp>
        <p:nvSpPr>
          <p:cNvPr id="20" name="Shape 17"/>
          <p:cNvSpPr/>
          <p:nvPr/>
        </p:nvSpPr>
        <p:spPr>
          <a:xfrm>
            <a:off x="4480560" y="2423160"/>
            <a:ext cx="3520440" cy="731520"/>
          </a:xfrm>
          <a:prstGeom prst="rect">
            <a:avLst/>
          </a:prstGeom>
          <a:solidFill>
            <a:srgbClr val="1B2A5C"/>
          </a:solidFill>
        </p:spPr>
      </p:sp>
      <p:sp>
        <p:nvSpPr>
          <p:cNvPr id="21" name="Shape 18"/>
          <p:cNvSpPr/>
          <p:nvPr/>
        </p:nvSpPr>
        <p:spPr>
          <a:xfrm>
            <a:off x="5920740" y="1874520"/>
            <a:ext cx="640080" cy="640080"/>
          </a:xfrm>
          <a:prstGeom prst="ellipse">
            <a:avLst/>
          </a:prstGeom>
          <a:solidFill>
            <a:srgbClr val="3E9AB4"/>
          </a:solidFill>
        </p:spPr>
      </p:sp>
      <p:pic>
        <p:nvPicPr>
          <p:cNvPr id="22" name="Image 1" descr="/home/claude/build/icons/mone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351" y="1964131"/>
            <a:ext cx="460858" cy="46085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480560" y="26517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Benefits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4754880" y="3611880"/>
            <a:ext cx="109728" cy="109728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25" name="Text 21"/>
          <p:cNvSpPr/>
          <p:nvPr/>
        </p:nvSpPr>
        <p:spPr>
          <a:xfrm>
            <a:off x="4983480" y="349300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SLA-related penalties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754880" y="4233672"/>
            <a:ext cx="109728" cy="109728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27" name="Text 23"/>
          <p:cNvSpPr/>
          <p:nvPr/>
        </p:nvSpPr>
        <p:spPr>
          <a:xfrm>
            <a:off x="4983480" y="41148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resource utilization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754880" y="4855464"/>
            <a:ext cx="109728" cy="109728"/>
          </a:xfrm>
          <a:prstGeom prst="ellipse">
            <a:avLst/>
          </a:prstGeom>
          <a:solidFill>
            <a:srgbClr val="1B2A5C"/>
          </a:solidFill>
        </p:spPr>
      </p:sp>
      <p:sp>
        <p:nvSpPr>
          <p:cNvPr id="29" name="Text 25"/>
          <p:cNvSpPr/>
          <p:nvPr/>
        </p:nvSpPr>
        <p:spPr>
          <a:xfrm>
            <a:off x="4983480" y="4736592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operational inefficiencies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321040" y="169164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999999">
                <a:alpha val="2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321040" y="169164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E8924A"/>
          </a:solidFill>
        </p:spPr>
      </p:sp>
      <p:sp>
        <p:nvSpPr>
          <p:cNvPr id="32" name="Shape 28"/>
          <p:cNvSpPr/>
          <p:nvPr/>
        </p:nvSpPr>
        <p:spPr>
          <a:xfrm>
            <a:off x="8321040" y="2423160"/>
            <a:ext cx="3520440" cy="731520"/>
          </a:xfrm>
          <a:prstGeom prst="rect">
            <a:avLst/>
          </a:prstGeom>
          <a:solidFill>
            <a:srgbClr val="E8924A"/>
          </a:solidFill>
        </p:spPr>
      </p:sp>
      <p:sp>
        <p:nvSpPr>
          <p:cNvPr id="33" name="Shape 29"/>
          <p:cNvSpPr/>
          <p:nvPr/>
        </p:nvSpPr>
        <p:spPr>
          <a:xfrm>
            <a:off x="9761220" y="1874520"/>
            <a:ext cx="640080" cy="640080"/>
          </a:xfrm>
          <a:prstGeom prst="ellipse">
            <a:avLst/>
          </a:prstGeom>
          <a:solidFill>
            <a:srgbClr val="141F45"/>
          </a:solidFill>
        </p:spPr>
      </p:sp>
      <p:pic>
        <p:nvPicPr>
          <p:cNvPr id="34" name="Image 2" descr="/home/claude/build/icons/he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0831" y="1964131"/>
            <a:ext cx="460858" cy="46085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321040" y="26517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Benefits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8595360" y="3611880"/>
            <a:ext cx="109728" cy="109728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37" name="Text 32"/>
          <p:cNvSpPr/>
          <p:nvPr/>
        </p:nvSpPr>
        <p:spPr>
          <a:xfrm>
            <a:off x="8823960" y="3493008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response times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8595360" y="4233672"/>
            <a:ext cx="109728" cy="109728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39" name="Text 34"/>
          <p:cNvSpPr/>
          <p:nvPr/>
        </p:nvSpPr>
        <p:spPr>
          <a:xfrm>
            <a:off x="8823960" y="4114800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customer satisfaction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8595360" y="4855464"/>
            <a:ext cx="109728" cy="109728"/>
          </a:xfrm>
          <a:prstGeom prst="ellipse">
            <a:avLst/>
          </a:prstGeom>
          <a:solidFill>
            <a:srgbClr val="E8924A"/>
          </a:solidFill>
        </p:spPr>
      </p:sp>
      <p:sp>
        <p:nvSpPr>
          <p:cNvPr id="41" name="Text 36"/>
          <p:cNvSpPr/>
          <p:nvPr/>
        </p:nvSpPr>
        <p:spPr>
          <a:xfrm>
            <a:off x="8823960" y="4736592"/>
            <a:ext cx="2788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Increased service reliability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41F45"/>
          </a:solidFill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41F45"/>
          </a:solidFill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92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05789" y="1610832"/>
            <a:ext cx="10568763" cy="1365220"/>
          </a:xfrm>
          <a:prstGeom prst="roundRect">
            <a:avLst>
              <a:gd name="adj" fmla="val 5714"/>
            </a:avLst>
          </a:prstGeom>
          <a:solidFill>
            <a:srgbClr val="141F45"/>
          </a:solidFill>
        </p:spPr>
      </p:sp>
      <p:sp>
        <p:nvSpPr>
          <p:cNvPr id="7" name="Text 5"/>
          <p:cNvSpPr/>
          <p:nvPr/>
        </p:nvSpPr>
        <p:spPr>
          <a:xfrm>
            <a:off x="1018069" y="1747992"/>
            <a:ext cx="9936444" cy="1131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E4E8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combining Data Engineering, Power BI analytics, and predictive modelling, the NorthBridge Customer Service Ticket &amp; SLA Optimisation System creates a single, data-driven environment that shifts operations from reactive reporting to proactive decision-making.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5789" y="3199339"/>
            <a:ext cx="10568763" cy="1365220"/>
          </a:xfrm>
          <a:prstGeom prst="roundRect">
            <a:avLst>
              <a:gd name="adj" fmla="val 5714"/>
            </a:avLst>
          </a:prstGeom>
          <a:solidFill>
            <a:srgbClr val="1C7293"/>
          </a:solidFill>
        </p:spPr>
      </p:sp>
      <p:sp>
        <p:nvSpPr>
          <p:cNvPr id="9" name="Text 7"/>
          <p:cNvSpPr/>
          <p:nvPr/>
        </p:nvSpPr>
        <p:spPr>
          <a:xfrm>
            <a:off x="1018069" y="3336499"/>
            <a:ext cx="9936444" cy="1131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NorthBridge’s operational challenges are driven less by a lack of resources and more by visibility, prioritisation, and process inefficiencies — the exact issues this solution is built to solve.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NorthBridge Health Services Ltd  |  Customer Service Ticket &amp; SLA Optimisation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900" dirty="0"/>
          </a:p>
        </p:txBody>
      </p:sp>
      <p:sp>
        <p:nvSpPr>
          <p:cNvPr id="14" name="Shape 6"/>
          <p:cNvSpPr/>
          <p:nvPr/>
        </p:nvSpPr>
        <p:spPr>
          <a:xfrm>
            <a:off x="731520" y="4787846"/>
            <a:ext cx="10568763" cy="1365220"/>
          </a:xfrm>
          <a:prstGeom prst="roundRect">
            <a:avLst>
              <a:gd name="adj" fmla="val 5714"/>
            </a:avLst>
          </a:prstGeom>
          <a:solidFill>
            <a:srgbClr val="1C7293"/>
          </a:solidFill>
        </p:spPr>
      </p:sp>
      <p:sp>
        <p:nvSpPr>
          <p:cNvPr id="15" name="Text 7"/>
          <p:cNvSpPr/>
          <p:nvPr/>
        </p:nvSpPr>
        <p:spPr>
          <a:xfrm>
            <a:off x="1043800" y="4925006"/>
            <a:ext cx="9936444" cy="1131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Together, these capabilities give NorthBridge a strong foundation for improving SLA performance, workforce planning, and long-term operational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41F45"/>
          </a:solidFill>
        </p:spPr>
      </p:sp>
      <p:sp>
        <p:nvSpPr>
          <p:cNvPr id="3" name="Shape 1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41F45"/>
          </a:solidFill>
        </p:spPr>
      </p:sp>
      <p:sp>
        <p:nvSpPr>
          <p:cNvPr id="4" name="Shape 2"/>
          <p:cNvSpPr/>
          <p:nvPr/>
        </p:nvSpPr>
        <p:spPr>
          <a:xfrm>
            <a:off x="5367528" y="1554480"/>
            <a:ext cx="1463040" cy="146304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/home/claude/build/icons/chartb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354" y="1759306"/>
            <a:ext cx="1053389" cy="10533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5184648" y="470916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Service Ticket &amp; SLA Optimisation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2160</Words>
  <Application>Microsoft Office PowerPoint</Application>
  <PresentationFormat>Widescreen</PresentationFormat>
  <Paragraphs>423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Sarah Ebi</cp:lastModifiedBy>
  <cp:revision>28</cp:revision>
  <dcterms:created xsi:type="dcterms:W3CDTF">2026-07-17T13:25:00Z</dcterms:created>
  <dcterms:modified xsi:type="dcterms:W3CDTF">2026-07-29T04:19:05Z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9C8DE950884E42E2BF1278B21F64D1C4_13</vt:lpwstr>
  </property>
</Properties>
</file>